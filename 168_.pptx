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E9E9"/>
    <a:srgbClr val="ECE4E2"/>
    <a:srgbClr val="E9E5E5"/>
    <a:srgbClr val="1F497D"/>
    <a:srgbClr val="326A41"/>
    <a:srgbClr val="E55B22"/>
    <a:srgbClr val="EB861A"/>
    <a:srgbClr val="323232"/>
    <a:srgbClr val="1E793D"/>
    <a:srgbClr val="9BBB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2CD534-6357-4CA4-81E0-A7A4FB0D346B}" v="37" dt="2026-09-21T05:12:27.4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70" y="-1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arshi Patel" userId="e6fde9e05487099a" providerId="LiveId" clId="{EA9991D3-A946-48C1-B09C-BDE5C78548E2}"/>
    <pc:docChg chg="modSld">
      <pc:chgData name="Maharshi Patel" userId="e6fde9e05487099a" providerId="LiveId" clId="{EA9991D3-A946-48C1-B09C-BDE5C78548E2}" dt="2026-09-21T05:50:34.697" v="34" actId="207"/>
      <pc:docMkLst>
        <pc:docMk/>
      </pc:docMkLst>
      <pc:sldChg chg="modSp mod">
        <pc:chgData name="Maharshi Patel" userId="e6fde9e05487099a" providerId="LiveId" clId="{EA9991D3-A946-48C1-B09C-BDE5C78548E2}" dt="2026-09-21T05:50:34.697" v="34" actId="207"/>
        <pc:sldMkLst>
          <pc:docMk/>
          <pc:sldMk cId="0" sldId="290"/>
        </pc:sldMkLst>
        <pc:spChg chg="mod">
          <ac:chgData name="Maharshi Patel" userId="e6fde9e05487099a" providerId="LiveId" clId="{EA9991D3-A946-48C1-B09C-BDE5C78548E2}" dt="2026-09-21T05:50:34.697" v="34" actId="207"/>
          <ac:spMkLst>
            <pc:docMk/>
            <pc:sldMk cId="0" sldId="290"/>
            <ac:spMk id="17418" creationId="{00000000-0000-0000-0000-000000000000}"/>
          </ac:spMkLst>
        </pc:spChg>
        <pc:spChg chg="mod">
          <ac:chgData name="Maharshi Patel" userId="e6fde9e05487099a" providerId="LiveId" clId="{EA9991D3-A946-48C1-B09C-BDE5C78548E2}" dt="2026-09-21T05:50:23.693" v="31" actId="207"/>
          <ac:spMkLst>
            <pc:docMk/>
            <pc:sldMk cId="0" sldId="290"/>
            <ac:spMk id="1742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27260" y="375494"/>
            <a:ext cx="7235301" cy="5702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endParaRPr lang="en-US" dirty="0">
              <a:solidFill>
                <a:srgbClr val="00B050"/>
              </a:solidFill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260168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AI-ML based Intelligent Dead Reckoning system for seamless navigation</a:t>
            </a:r>
            <a:endParaRPr lang="en-US" sz="24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Smart Vehicles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132834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@enigm@</a:t>
            </a:r>
            <a:endParaRPr lang="en-IN" sz="24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60891"/>
            <a:ext cx="2249850" cy="10623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78F109-1E67-A75E-2B88-CB3EF87BDD45}"/>
              </a:ext>
            </a:extLst>
          </p:cNvPr>
          <p:cNvSpPr txBox="1"/>
          <p:nvPr/>
        </p:nvSpPr>
        <p:spPr>
          <a:xfrm>
            <a:off x="10813002" y="23525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589978" y="275201"/>
            <a:ext cx="4976973" cy="667462"/>
          </a:xfrm>
        </p:spPr>
        <p:txBody>
          <a:bodyPr/>
          <a:lstStyle/>
          <a:p>
            <a:pPr eaLnBrk="1" hangingPunct="1"/>
            <a:br>
              <a:rPr lang="en-US" sz="4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Edge-Native Virtual Odometer &amp; Zero-Drift  GNSS  Fusion Engine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FDA7C4-42A6-8EB5-4EC1-BB473180A20C}"/>
              </a:ext>
            </a:extLst>
          </p:cNvPr>
          <p:cNvSpPr txBox="1"/>
          <p:nvPr/>
        </p:nvSpPr>
        <p:spPr>
          <a:xfrm>
            <a:off x="189239" y="298080"/>
            <a:ext cx="2008677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@</a:t>
            </a:r>
            <a:r>
              <a:rPr lang="en-US" sz="2800" b="1" i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Enigm</a:t>
            </a:r>
            <a:endParaRPr lang="en-US" sz="2800" b="1" i="1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fornian FB" panose="0207040306080B0302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441B7D-3D29-F12F-65E7-590AE3729EDA}"/>
              </a:ext>
            </a:extLst>
          </p:cNvPr>
          <p:cNvSpPr txBox="1"/>
          <p:nvPr/>
        </p:nvSpPr>
        <p:spPr>
          <a:xfrm>
            <a:off x="1581301" y="357887"/>
            <a:ext cx="463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fornian FB" panose="0207040306080B030204" pitchFamily="18" charset="0"/>
              </a:rPr>
              <a:t>@</a:t>
            </a:r>
            <a:endParaRPr lang="en-US" sz="3200" i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85A3D8-BE81-657C-7BB8-F793541D4104}"/>
              </a:ext>
            </a:extLst>
          </p:cNvPr>
          <p:cNvSpPr txBox="1"/>
          <p:nvPr/>
        </p:nvSpPr>
        <p:spPr>
          <a:xfrm>
            <a:off x="4584867" y="62129"/>
            <a:ext cx="26819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err="1"/>
              <a:t>Navi</a:t>
            </a:r>
            <a:r>
              <a:rPr lang="en-US" sz="4000" b="1" dirty="0" err="1">
                <a:solidFill>
                  <a:srgbClr val="1F497D"/>
                </a:solidFill>
              </a:rPr>
              <a:t>Core</a:t>
            </a:r>
            <a:r>
              <a:rPr lang="en-US" sz="4000" b="1" dirty="0">
                <a:solidFill>
                  <a:srgbClr val="1F497D"/>
                </a:solidFill>
              </a:rPr>
              <a:t> AI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FB3AA17-6A15-76F6-7CAE-39511B52AF67}"/>
              </a:ext>
            </a:extLst>
          </p:cNvPr>
          <p:cNvSpPr txBox="1">
            <a:spLocks/>
          </p:cNvSpPr>
          <p:nvPr/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pPr>
                <a:defRPr/>
              </a:pPr>
              <a:t>2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1C021AE0-5B52-BEE4-61DD-6C7A331BD2A5}"/>
              </a:ext>
            </a:extLst>
          </p:cNvPr>
          <p:cNvSpPr txBox="1">
            <a:spLocks/>
          </p:cNvSpPr>
          <p:nvPr/>
        </p:nvSpPr>
        <p:spPr>
          <a:xfrm>
            <a:off x="4648200" y="6356353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@SIH Idea submission- Template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F4485F-9C32-61E6-C8D4-3BC2EE408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99365"/>
            <a:ext cx="12191999" cy="45863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1F190B-0F09-F9FB-88E6-667F8ADD42FC}"/>
              </a:ext>
            </a:extLst>
          </p:cNvPr>
          <p:cNvSpPr txBox="1"/>
          <p:nvPr/>
        </p:nvSpPr>
        <p:spPr>
          <a:xfrm>
            <a:off x="4345106" y="6404519"/>
            <a:ext cx="2008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@</a:t>
            </a:r>
            <a:r>
              <a:rPr lang="en-US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Enigm</a:t>
            </a:r>
            <a:endParaRPr lang="en-US" sz="28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fornian FB" panose="0207040306080B03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078E1C-8D06-C31E-1A03-BC42172BA27F}"/>
              </a:ext>
            </a:extLst>
          </p:cNvPr>
          <p:cNvSpPr txBox="1"/>
          <p:nvPr/>
        </p:nvSpPr>
        <p:spPr>
          <a:xfrm>
            <a:off x="5696610" y="6404519"/>
            <a:ext cx="463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fornian FB" panose="0207040306080B030204" pitchFamily="18" charset="0"/>
              </a:rPr>
              <a:t>@</a:t>
            </a:r>
            <a:endParaRPr lang="en-US" sz="32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366" name="Flowchart: Process 15365">
            <a:extLst>
              <a:ext uri="{FF2B5EF4-FFF2-40B4-BE49-F238E27FC236}">
                <a16:creationId xmlns:a16="http://schemas.microsoft.com/office/drawing/2014/main" id="{A2B55A10-F577-3507-57CD-EF4BA787B7F6}"/>
              </a:ext>
            </a:extLst>
          </p:cNvPr>
          <p:cNvSpPr/>
          <p:nvPr/>
        </p:nvSpPr>
        <p:spPr>
          <a:xfrm>
            <a:off x="8777669" y="2451839"/>
            <a:ext cx="2761902" cy="458636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78" name="Flowchart: Process 15377">
            <a:extLst>
              <a:ext uri="{FF2B5EF4-FFF2-40B4-BE49-F238E27FC236}">
                <a16:creationId xmlns:a16="http://schemas.microsoft.com/office/drawing/2014/main" id="{F3535961-640A-BDE7-70F0-CA050E696F0A}"/>
              </a:ext>
            </a:extLst>
          </p:cNvPr>
          <p:cNvSpPr/>
          <p:nvPr/>
        </p:nvSpPr>
        <p:spPr>
          <a:xfrm>
            <a:off x="8777669" y="5336811"/>
            <a:ext cx="2761902" cy="458636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80" name="Flowchart: Process 15379">
            <a:extLst>
              <a:ext uri="{FF2B5EF4-FFF2-40B4-BE49-F238E27FC236}">
                <a16:creationId xmlns:a16="http://schemas.microsoft.com/office/drawing/2014/main" id="{AEDDB724-4C4B-2B95-C53F-77CE38A208F8}"/>
              </a:ext>
            </a:extLst>
          </p:cNvPr>
          <p:cNvSpPr/>
          <p:nvPr/>
        </p:nvSpPr>
        <p:spPr>
          <a:xfrm>
            <a:off x="8777669" y="3880383"/>
            <a:ext cx="2761902" cy="458636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82" name="Flowchart: Process 15381">
            <a:extLst>
              <a:ext uri="{FF2B5EF4-FFF2-40B4-BE49-F238E27FC236}">
                <a16:creationId xmlns:a16="http://schemas.microsoft.com/office/drawing/2014/main" id="{B17F82AB-182A-7070-7C22-79140FD94BA7}"/>
              </a:ext>
            </a:extLst>
          </p:cNvPr>
          <p:cNvSpPr/>
          <p:nvPr/>
        </p:nvSpPr>
        <p:spPr>
          <a:xfrm>
            <a:off x="8777669" y="3161844"/>
            <a:ext cx="2761902" cy="458636"/>
          </a:xfrm>
          <a:prstGeom prst="flowChart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384" name="Flowchart: Process 15383">
            <a:extLst>
              <a:ext uri="{FF2B5EF4-FFF2-40B4-BE49-F238E27FC236}">
                <a16:creationId xmlns:a16="http://schemas.microsoft.com/office/drawing/2014/main" id="{B7979C67-9044-4B23-C779-23A4A52ED2F8}"/>
              </a:ext>
            </a:extLst>
          </p:cNvPr>
          <p:cNvSpPr/>
          <p:nvPr/>
        </p:nvSpPr>
        <p:spPr>
          <a:xfrm>
            <a:off x="8777669" y="4618371"/>
            <a:ext cx="2761902" cy="458636"/>
          </a:xfrm>
          <a:prstGeom prst="flowChart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86" name="Flowchart: Process 15385">
            <a:extLst>
              <a:ext uri="{FF2B5EF4-FFF2-40B4-BE49-F238E27FC236}">
                <a16:creationId xmlns:a16="http://schemas.microsoft.com/office/drawing/2014/main" id="{31E5EAFB-946E-6434-82F4-EFCF82B66AFC}"/>
              </a:ext>
            </a:extLst>
          </p:cNvPr>
          <p:cNvSpPr/>
          <p:nvPr/>
        </p:nvSpPr>
        <p:spPr>
          <a:xfrm>
            <a:off x="8777669" y="1731729"/>
            <a:ext cx="2761902" cy="458636"/>
          </a:xfrm>
          <a:prstGeom prst="flowChart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90" name="TextBox 15389">
            <a:extLst>
              <a:ext uri="{FF2B5EF4-FFF2-40B4-BE49-F238E27FC236}">
                <a16:creationId xmlns:a16="http://schemas.microsoft.com/office/drawing/2014/main" id="{54972271-F6CC-666F-EB9F-56340FFA7442}"/>
              </a:ext>
            </a:extLst>
          </p:cNvPr>
          <p:cNvSpPr txBox="1"/>
          <p:nvPr/>
        </p:nvSpPr>
        <p:spPr>
          <a:xfrm>
            <a:off x="8831128" y="2518243"/>
            <a:ext cx="2838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Auto-Calibration (LPF + PCA)</a:t>
            </a:r>
            <a:endParaRPr lang="en-US" sz="1400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en-US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5391" name="TextBox 15390">
            <a:extLst>
              <a:ext uri="{FF2B5EF4-FFF2-40B4-BE49-F238E27FC236}">
                <a16:creationId xmlns:a16="http://schemas.microsoft.com/office/drawing/2014/main" id="{86B9A422-ACA6-49F1-A967-E8942148D8E9}"/>
              </a:ext>
            </a:extLst>
          </p:cNvPr>
          <p:cNvSpPr txBox="1"/>
          <p:nvPr/>
        </p:nvSpPr>
        <p:spPr>
          <a:xfrm>
            <a:off x="8841880" y="3200627"/>
            <a:ext cx="28386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Odometer · NHC · ZUPT</a:t>
            </a:r>
            <a:endParaRPr lang="en-US" sz="1600" dirty="0">
              <a:solidFill>
                <a:schemeClr val="tx2">
                  <a:lumMod val="75000"/>
                </a:schemeClr>
              </a:solidFill>
            </a:endParaRPr>
          </a:p>
          <a:p>
            <a:endParaRPr lang="en-US" sz="1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393" name="TextBox 15392">
            <a:extLst>
              <a:ext uri="{FF2B5EF4-FFF2-40B4-BE49-F238E27FC236}">
                <a16:creationId xmlns:a16="http://schemas.microsoft.com/office/drawing/2014/main" id="{FC1924B0-4927-3608-86E6-21259AF73A8E}"/>
              </a:ext>
            </a:extLst>
          </p:cNvPr>
          <p:cNvSpPr txBox="1"/>
          <p:nvPr/>
        </p:nvSpPr>
        <p:spPr>
          <a:xfrm>
            <a:off x="9054070" y="1819482"/>
            <a:ext cx="20827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6-DOF IMU @ 100 H</a:t>
            </a:r>
            <a:endParaRPr 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394" name="TextBox 15393">
            <a:extLst>
              <a:ext uri="{FF2B5EF4-FFF2-40B4-BE49-F238E27FC236}">
                <a16:creationId xmlns:a16="http://schemas.microsoft.com/office/drawing/2014/main" id="{A66B2004-0197-121C-54D8-1815302AAC14}"/>
              </a:ext>
            </a:extLst>
          </p:cNvPr>
          <p:cNvSpPr txBox="1"/>
          <p:nvPr/>
        </p:nvSpPr>
        <p:spPr>
          <a:xfrm>
            <a:off x="8762849" y="4686571"/>
            <a:ext cx="2776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HMM Map-Matching (OSM)</a:t>
            </a:r>
            <a:endParaRPr lang="en-US" sz="1600" dirty="0">
              <a:solidFill>
                <a:schemeClr val="tx2">
                  <a:lumMod val="75000"/>
                </a:schemeClr>
              </a:solidFill>
            </a:endParaRPr>
          </a:p>
          <a:p>
            <a:endParaRPr lang="en-US" sz="1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395" name="TextBox 15394">
            <a:extLst>
              <a:ext uri="{FF2B5EF4-FFF2-40B4-BE49-F238E27FC236}">
                <a16:creationId xmlns:a16="http://schemas.microsoft.com/office/drawing/2014/main" id="{11F1B7D4-5488-513E-4258-AE530E14FAF1}"/>
              </a:ext>
            </a:extLst>
          </p:cNvPr>
          <p:cNvSpPr txBox="1"/>
          <p:nvPr/>
        </p:nvSpPr>
        <p:spPr>
          <a:xfrm>
            <a:off x="8941071" y="3979576"/>
            <a:ext cx="2361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ESKF GNSS + INS Fusion</a:t>
            </a:r>
            <a:endParaRPr lang="en-US" sz="1400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en-US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5397" name="TextBox 15396">
            <a:extLst>
              <a:ext uri="{FF2B5EF4-FFF2-40B4-BE49-F238E27FC236}">
                <a16:creationId xmlns:a16="http://schemas.microsoft.com/office/drawing/2014/main" id="{1D625C26-A6A5-24EC-3AB2-37630EE7F6F2}"/>
              </a:ext>
            </a:extLst>
          </p:cNvPr>
          <p:cNvSpPr txBox="1"/>
          <p:nvPr/>
        </p:nvSpPr>
        <p:spPr>
          <a:xfrm>
            <a:off x="8764560" y="5404677"/>
            <a:ext cx="2788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10 Hz Navigation UI</a:t>
            </a:r>
            <a:endParaRPr lang="en-US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5398" name="Arrow: Down 15397">
            <a:extLst>
              <a:ext uri="{FF2B5EF4-FFF2-40B4-BE49-F238E27FC236}">
                <a16:creationId xmlns:a16="http://schemas.microsoft.com/office/drawing/2014/main" id="{C5FD5CE7-F410-FF02-E3F9-237E61D26A3A}"/>
              </a:ext>
            </a:extLst>
          </p:cNvPr>
          <p:cNvSpPr/>
          <p:nvPr/>
        </p:nvSpPr>
        <p:spPr>
          <a:xfrm flipH="1">
            <a:off x="9050649" y="2226451"/>
            <a:ext cx="110880" cy="195589"/>
          </a:xfrm>
          <a:prstGeom prst="downArrow">
            <a:avLst>
              <a:gd name="adj1" fmla="val 50000"/>
              <a:gd name="adj2" fmla="val 38315"/>
            </a:avLst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00" name="Arrow: Down 15399">
            <a:extLst>
              <a:ext uri="{FF2B5EF4-FFF2-40B4-BE49-F238E27FC236}">
                <a16:creationId xmlns:a16="http://schemas.microsoft.com/office/drawing/2014/main" id="{A5E4A837-E848-97B2-8219-8052BD79CDAF}"/>
              </a:ext>
            </a:extLst>
          </p:cNvPr>
          <p:cNvSpPr/>
          <p:nvPr/>
        </p:nvSpPr>
        <p:spPr>
          <a:xfrm flipH="1">
            <a:off x="9659443" y="2943060"/>
            <a:ext cx="110880" cy="195589"/>
          </a:xfrm>
          <a:prstGeom prst="downArrow">
            <a:avLst>
              <a:gd name="adj1" fmla="val 50000"/>
              <a:gd name="adj2" fmla="val 38315"/>
            </a:avLst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02" name="Arrow: Down 15401">
            <a:extLst>
              <a:ext uri="{FF2B5EF4-FFF2-40B4-BE49-F238E27FC236}">
                <a16:creationId xmlns:a16="http://schemas.microsoft.com/office/drawing/2014/main" id="{74118DF6-CA79-747C-2B8C-9776914ADCCC}"/>
              </a:ext>
            </a:extLst>
          </p:cNvPr>
          <p:cNvSpPr/>
          <p:nvPr/>
        </p:nvSpPr>
        <p:spPr>
          <a:xfrm flipH="1">
            <a:off x="10142926" y="3655325"/>
            <a:ext cx="110880" cy="195589"/>
          </a:xfrm>
          <a:prstGeom prst="downArrow">
            <a:avLst>
              <a:gd name="adj1" fmla="val 50000"/>
              <a:gd name="adj2" fmla="val 38315"/>
            </a:avLst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04" name="Arrow: Down 15403">
            <a:extLst>
              <a:ext uri="{FF2B5EF4-FFF2-40B4-BE49-F238E27FC236}">
                <a16:creationId xmlns:a16="http://schemas.microsoft.com/office/drawing/2014/main" id="{95C9D333-F9C2-05C1-42B5-795602F275F0}"/>
              </a:ext>
            </a:extLst>
          </p:cNvPr>
          <p:cNvSpPr/>
          <p:nvPr/>
        </p:nvSpPr>
        <p:spPr>
          <a:xfrm flipH="1">
            <a:off x="10558606" y="4387189"/>
            <a:ext cx="110880" cy="195589"/>
          </a:xfrm>
          <a:prstGeom prst="downArrow">
            <a:avLst>
              <a:gd name="adj1" fmla="val 50000"/>
              <a:gd name="adj2" fmla="val 38315"/>
            </a:avLst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06" name="Arrow: Down 15405">
            <a:extLst>
              <a:ext uri="{FF2B5EF4-FFF2-40B4-BE49-F238E27FC236}">
                <a16:creationId xmlns:a16="http://schemas.microsoft.com/office/drawing/2014/main" id="{C81F425C-284B-D667-D3E9-2491DE514D0D}"/>
              </a:ext>
            </a:extLst>
          </p:cNvPr>
          <p:cNvSpPr/>
          <p:nvPr/>
        </p:nvSpPr>
        <p:spPr>
          <a:xfrm flipH="1">
            <a:off x="11077981" y="5110028"/>
            <a:ext cx="110880" cy="195589"/>
          </a:xfrm>
          <a:prstGeom prst="downArrow">
            <a:avLst>
              <a:gd name="adj1" fmla="val 50000"/>
              <a:gd name="adj2" fmla="val 38315"/>
            </a:avLst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10" name="Text 6">
            <a:extLst>
              <a:ext uri="{FF2B5EF4-FFF2-40B4-BE49-F238E27FC236}">
                <a16:creationId xmlns:a16="http://schemas.microsoft.com/office/drawing/2014/main" id="{CB084753-79FD-F793-709A-328A6D10EC68}"/>
              </a:ext>
            </a:extLst>
          </p:cNvPr>
          <p:cNvSpPr txBox="1"/>
          <p:nvPr/>
        </p:nvSpPr>
        <p:spPr>
          <a:xfrm>
            <a:off x="274320" y="1373824"/>
            <a:ext cx="7589520" cy="31089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lIns="0" tIns="1524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PROBLEM EXISTING</a:t>
            </a:r>
            <a:endParaRPr lang="en-US" sz="1200" dirty="0"/>
          </a:p>
        </p:txBody>
      </p:sp>
      <p:sp>
        <p:nvSpPr>
          <p:cNvPr id="15412" name="Shape 7">
            <a:extLst>
              <a:ext uri="{FF2B5EF4-FFF2-40B4-BE49-F238E27FC236}">
                <a16:creationId xmlns:a16="http://schemas.microsoft.com/office/drawing/2014/main" id="{2EF13812-67B4-61F0-4741-CC57C4404B52}"/>
              </a:ext>
            </a:extLst>
          </p:cNvPr>
          <p:cNvSpPr/>
          <p:nvPr/>
        </p:nvSpPr>
        <p:spPr>
          <a:xfrm>
            <a:off x="274320" y="1733753"/>
            <a:ext cx="7589520" cy="1080265"/>
          </a:xfrm>
          <a:prstGeom prst="roundRect">
            <a:avLst>
              <a:gd name="adj" fmla="val 5161"/>
            </a:avLst>
          </a:prstGeom>
          <a:solidFill>
            <a:srgbClr val="F5F9FC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5414" name="Text 8">
            <a:extLst>
              <a:ext uri="{FF2B5EF4-FFF2-40B4-BE49-F238E27FC236}">
                <a16:creationId xmlns:a16="http://schemas.microsoft.com/office/drawing/2014/main" id="{09A2C054-1509-A204-81B8-D22008C9D5C3}"/>
              </a:ext>
            </a:extLst>
          </p:cNvPr>
          <p:cNvSpPr txBox="1"/>
          <p:nvPr/>
        </p:nvSpPr>
        <p:spPr>
          <a:xfrm>
            <a:off x="320040" y="1793380"/>
            <a:ext cx="7543800" cy="1025459"/>
          </a:xfrm>
          <a:prstGeom prst="rect">
            <a:avLst/>
          </a:prstGeom>
          <a:noFill/>
          <a:ln/>
        </p:spPr>
        <p:txBody>
          <a:bodyPr wrap="square" lIns="50800" tIns="101600" rIns="101600" bIns="254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13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GNSS Blackouts : </a:t>
            </a:r>
            <a:r>
              <a:rPr lang="en-US" sz="1113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Tunnels, urban canyons &amp; parking lots kill satellite signal.</a:t>
            </a:r>
            <a:endParaRPr lang="en-US" sz="1113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13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OBD-II Link : </a:t>
            </a:r>
            <a:r>
              <a:rPr lang="en-US" sz="1113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Indian 2-wheelers &amp; budget cars rely only on a phone, with no wheel-speed sensor.</a:t>
            </a:r>
            <a:endParaRPr lang="en-US" sz="1113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13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Double-Integration Drift : </a:t>
            </a:r>
            <a:r>
              <a:rPr lang="en-US" sz="1113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 MEMS IMU bias grows quadratically, drifting hundreds of metres in seconds.</a:t>
            </a:r>
            <a:endParaRPr lang="en-US" sz="1113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13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Noise : </a:t>
            </a:r>
            <a:r>
              <a:rPr lang="en-US" sz="1113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Potholes, braking &amp; idling vibration corrupt standard filters.</a:t>
            </a:r>
            <a:endParaRPr lang="en-US" sz="1113" dirty="0"/>
          </a:p>
        </p:txBody>
      </p:sp>
      <p:sp>
        <p:nvSpPr>
          <p:cNvPr id="15418" name="Text 10">
            <a:extLst>
              <a:ext uri="{FF2B5EF4-FFF2-40B4-BE49-F238E27FC236}">
                <a16:creationId xmlns:a16="http://schemas.microsoft.com/office/drawing/2014/main" id="{32010CD6-6440-5951-B62C-0E5769CCBC12}"/>
              </a:ext>
            </a:extLst>
          </p:cNvPr>
          <p:cNvSpPr txBox="1"/>
          <p:nvPr/>
        </p:nvSpPr>
        <p:spPr>
          <a:xfrm>
            <a:off x="297180" y="2868969"/>
            <a:ext cx="7589520" cy="310896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1524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PROPOSED SOLUTION</a:t>
            </a:r>
            <a:endParaRPr lang="en-US" sz="1200" dirty="0"/>
          </a:p>
        </p:txBody>
      </p:sp>
      <p:sp>
        <p:nvSpPr>
          <p:cNvPr id="15420" name="Shape 11">
            <a:extLst>
              <a:ext uri="{FF2B5EF4-FFF2-40B4-BE49-F238E27FC236}">
                <a16:creationId xmlns:a16="http://schemas.microsoft.com/office/drawing/2014/main" id="{106074D2-DCF5-0B88-E29D-B017DF1C4FF4}"/>
              </a:ext>
            </a:extLst>
          </p:cNvPr>
          <p:cNvSpPr/>
          <p:nvPr/>
        </p:nvSpPr>
        <p:spPr>
          <a:xfrm>
            <a:off x="297180" y="3223399"/>
            <a:ext cx="7589520" cy="1600200"/>
          </a:xfrm>
          <a:prstGeom prst="roundRect">
            <a:avLst>
              <a:gd name="adj" fmla="val 4571"/>
            </a:avLst>
          </a:prstGeom>
          <a:solidFill>
            <a:srgbClr val="F5F9FC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5422" name="Text 12">
            <a:extLst>
              <a:ext uri="{FF2B5EF4-FFF2-40B4-BE49-F238E27FC236}">
                <a16:creationId xmlns:a16="http://schemas.microsoft.com/office/drawing/2014/main" id="{B512CA11-9115-B28D-9512-E9F8482C16B8}"/>
              </a:ext>
            </a:extLst>
          </p:cNvPr>
          <p:cNvSpPr txBox="1"/>
          <p:nvPr/>
        </p:nvSpPr>
        <p:spPr>
          <a:xfrm>
            <a:off x="326675" y="3194882"/>
            <a:ext cx="7405775" cy="1485860"/>
          </a:xfrm>
          <a:prstGeom prst="rect">
            <a:avLst/>
          </a:prstGeom>
          <a:noFill/>
          <a:ln/>
        </p:spPr>
        <p:txBody>
          <a:bodyPr wrap="square" lIns="50800" tIns="101600" rIns="101600" bIns="254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72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AI Virtual Odometer : </a:t>
            </a:r>
            <a:r>
              <a:rPr lang="en-US" sz="1272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1D-CNN/TCN turns 1 s of 6-DOF IMU data into forward velocity, like a wheel sensor.</a:t>
            </a:r>
            <a:endParaRPr lang="en-US" sz="1272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72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Auto-Calibration : </a:t>
            </a:r>
            <a:r>
              <a:rPr lang="en-US" sz="1272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Low-pass gravity + PCA aligns any phone mount to the vehicle axes.</a:t>
            </a:r>
            <a:endParaRPr lang="en-US" sz="1272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72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ESKF Fusion : </a:t>
            </a:r>
            <a:r>
              <a:rPr lang="en-US" sz="1272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phone IMU bias under open sky; switches to AI speed in &lt;10 ms on blackout.</a:t>
            </a:r>
            <a:endParaRPr lang="en-US" sz="1272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72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HMM Map-Matching : </a:t>
            </a:r>
            <a:r>
              <a:rPr lang="en-US" sz="1272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Viterbi on offline OSM snaps drifted paths back onto the road.</a:t>
            </a:r>
            <a:endParaRPr lang="en-US" sz="1272" dirty="0"/>
          </a:p>
        </p:txBody>
      </p:sp>
      <p:sp>
        <p:nvSpPr>
          <p:cNvPr id="15426" name="Text 14">
            <a:extLst>
              <a:ext uri="{FF2B5EF4-FFF2-40B4-BE49-F238E27FC236}">
                <a16:creationId xmlns:a16="http://schemas.microsoft.com/office/drawing/2014/main" id="{FBC1B02E-F015-5A1C-67D5-5CB1615B8DC0}"/>
              </a:ext>
            </a:extLst>
          </p:cNvPr>
          <p:cNvSpPr txBox="1"/>
          <p:nvPr/>
        </p:nvSpPr>
        <p:spPr>
          <a:xfrm>
            <a:off x="288302" y="4872339"/>
            <a:ext cx="7589520" cy="310896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1524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UVP (UNIQUE VALUE PROPOSITION)</a:t>
            </a:r>
            <a:endParaRPr lang="en-US" sz="1200" dirty="0"/>
          </a:p>
        </p:txBody>
      </p:sp>
      <p:sp>
        <p:nvSpPr>
          <p:cNvPr id="15428" name="Shape 15">
            <a:extLst>
              <a:ext uri="{FF2B5EF4-FFF2-40B4-BE49-F238E27FC236}">
                <a16:creationId xmlns:a16="http://schemas.microsoft.com/office/drawing/2014/main" id="{C005D172-9253-C82C-3A0B-787E8D161B44}"/>
              </a:ext>
            </a:extLst>
          </p:cNvPr>
          <p:cNvSpPr/>
          <p:nvPr/>
        </p:nvSpPr>
        <p:spPr>
          <a:xfrm>
            <a:off x="274320" y="5239512"/>
            <a:ext cx="7589520" cy="1073829"/>
          </a:xfrm>
          <a:prstGeom prst="roundRect">
            <a:avLst>
              <a:gd name="adj" fmla="val 6154"/>
            </a:avLst>
          </a:prstGeom>
          <a:solidFill>
            <a:srgbClr val="F5F9FC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5430" name="Text 16">
            <a:extLst>
              <a:ext uri="{FF2B5EF4-FFF2-40B4-BE49-F238E27FC236}">
                <a16:creationId xmlns:a16="http://schemas.microsoft.com/office/drawing/2014/main" id="{9135D7E1-58D0-E072-3CC9-D73E0C8AC427}"/>
              </a:ext>
            </a:extLst>
          </p:cNvPr>
          <p:cNvSpPr txBox="1"/>
          <p:nvPr/>
        </p:nvSpPr>
        <p:spPr>
          <a:xfrm>
            <a:off x="320040" y="5276088"/>
            <a:ext cx="7532160" cy="1080265"/>
          </a:xfrm>
          <a:prstGeom prst="rect">
            <a:avLst/>
          </a:prstGeom>
          <a:noFill/>
          <a:ln/>
        </p:spPr>
        <p:txBody>
          <a:bodyPr wrap="square" lIns="50800" tIns="101600" rIns="101600" bIns="254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72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AI-Triggered ZUPT : </a:t>
            </a:r>
            <a:r>
              <a:rPr lang="en-US" sz="1272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idling vibration and freezes drift in traffic.</a:t>
            </a:r>
            <a:endParaRPr lang="en-US" sz="1272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72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NHC + Vibe-Based Covariance : </a:t>
            </a:r>
            <a:r>
              <a:rPr lang="en-US" sz="1272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sideways/vertical motion; adapts trust to road roughness.</a:t>
            </a:r>
            <a:endParaRPr lang="en-US" sz="1272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72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Zero-Latency C++ (Eigen via JNI) : </a:t>
            </a:r>
            <a:r>
              <a:rPr lang="en-US" sz="1272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garbage-collection pauses, low battery drain.</a:t>
            </a:r>
            <a:endParaRPr lang="en-US" sz="127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9EB931-84E8-5940-FC80-BE487F5E2CFF}"/>
              </a:ext>
            </a:extLst>
          </p:cNvPr>
          <p:cNvSpPr txBox="1"/>
          <p:nvPr/>
        </p:nvSpPr>
        <p:spPr>
          <a:xfrm>
            <a:off x="189239" y="298080"/>
            <a:ext cx="2008677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@</a:t>
            </a:r>
            <a:r>
              <a:rPr lang="en-US" sz="2800" b="1" i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Enigm</a:t>
            </a:r>
            <a:endParaRPr lang="en-US" sz="2800" b="1" i="1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fornian FB" panose="0207040306080B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26AA39-E238-D482-1DAE-F3952EB7F3CB}"/>
              </a:ext>
            </a:extLst>
          </p:cNvPr>
          <p:cNvSpPr txBox="1"/>
          <p:nvPr/>
        </p:nvSpPr>
        <p:spPr>
          <a:xfrm>
            <a:off x="1581301" y="357887"/>
            <a:ext cx="463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fornian FB" panose="0207040306080B030204" pitchFamily="18" charset="0"/>
              </a:rPr>
              <a:t>@</a:t>
            </a:r>
            <a:endParaRPr lang="en-US" sz="3200" i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AC7F102-8347-9B15-031D-271316E89B71}"/>
              </a:ext>
            </a:extLst>
          </p:cNvPr>
          <p:cNvSpPr txBox="1">
            <a:spLocks/>
          </p:cNvSpPr>
          <p:nvPr/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pPr>
                <a:defRPr/>
              </a:pPr>
              <a:t>3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FA4AA247-FED9-A4F0-5D38-9DECDD55C6D7}"/>
              </a:ext>
            </a:extLst>
          </p:cNvPr>
          <p:cNvSpPr txBox="1">
            <a:spLocks/>
          </p:cNvSpPr>
          <p:nvPr/>
        </p:nvSpPr>
        <p:spPr>
          <a:xfrm>
            <a:off x="4648200" y="6356353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@SIH Idea submission- Template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5C8CDB-D5D9-AC4A-9922-0247A0054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99365"/>
            <a:ext cx="12191999" cy="45863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D11903-3B98-3D2E-4ACB-C0DB341BC38B}"/>
              </a:ext>
            </a:extLst>
          </p:cNvPr>
          <p:cNvSpPr txBox="1"/>
          <p:nvPr/>
        </p:nvSpPr>
        <p:spPr>
          <a:xfrm>
            <a:off x="4345106" y="6404519"/>
            <a:ext cx="2008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@</a:t>
            </a:r>
            <a:r>
              <a:rPr lang="en-US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Enigm</a:t>
            </a:r>
            <a:endParaRPr lang="en-US" sz="28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fornian FB" panose="0207040306080B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6D7648-26D1-F26C-E9BE-EB1F0D12B90D}"/>
              </a:ext>
            </a:extLst>
          </p:cNvPr>
          <p:cNvSpPr txBox="1"/>
          <p:nvPr/>
        </p:nvSpPr>
        <p:spPr>
          <a:xfrm>
            <a:off x="5696610" y="6404519"/>
            <a:ext cx="463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fornian FB" panose="0207040306080B030204" pitchFamily="18" charset="0"/>
              </a:rPr>
              <a:t>@</a:t>
            </a:r>
            <a:endParaRPr lang="en-US" sz="32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412" name="Flowchart: Process 17412"/>
          <p:cNvSpPr/>
          <p:nvPr/>
        </p:nvSpPr>
        <p:spPr>
          <a:xfrm>
            <a:off x="274320" y="1188720"/>
            <a:ext cx="2103120" cy="566928"/>
          </a:xfrm>
          <a:prstGeom prst="flowChart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en-US" sz="1100" b="1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1  Ingestion &amp; Auto-Calibration</a:t>
            </a:r>
          </a:p>
        </p:txBody>
      </p:sp>
      <p:sp>
        <p:nvSpPr>
          <p:cNvPr id="17413" name="Shape 17413"/>
          <p:cNvSpPr/>
          <p:nvPr/>
        </p:nvSpPr>
        <p:spPr>
          <a:xfrm>
            <a:off x="274320" y="1810512"/>
            <a:ext cx="2103120" cy="2377440"/>
          </a:xfrm>
          <a:prstGeom prst="roundRect">
            <a:avLst>
              <a:gd name="adj" fmla="val 5161"/>
            </a:avLst>
          </a:prstGeom>
          <a:solidFill>
            <a:srgbClr val="F5F9FC"/>
          </a:solidFill>
          <a:ln w="12700">
            <a:solidFill>
              <a:srgbClr val="C9D3DC"/>
            </a:solidFill>
            <a:prstDash val="solid"/>
          </a:ln>
        </p:spPr>
        <p:txBody>
          <a:bodyPr wrap="square" lIns="91440" tIns="27432" rIns="91440" bIns="27432" rtlCol="0" anchor="ctr"/>
          <a:lstStyle/>
          <a:p>
            <a:endParaRPr lang="en-US"/>
          </a:p>
        </p:txBody>
      </p:sp>
      <p:sp>
        <p:nvSpPr>
          <p:cNvPr id="17414" name="Text 17414"/>
          <p:cNvSpPr txBox="1"/>
          <p:nvPr/>
        </p:nvSpPr>
        <p:spPr>
          <a:xfrm>
            <a:off x="292608" y="1847088"/>
            <a:ext cx="2066543" cy="2286000"/>
          </a:xfrm>
          <a:prstGeom prst="rect">
            <a:avLst/>
          </a:prstGeom>
          <a:noFill/>
          <a:ln/>
        </p:spPr>
        <p:txBody>
          <a:bodyPr wrap="square" lIns="50800" tIns="76200" rIns="762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</a:rPr>
              <a:t>6-DOF IMU read at 100 Hz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</a:rPr>
              <a:t>Low-pass filter finds gravity (Z)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</a:rPr>
              <a:t>PCA finds forward vector (X)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</a:rPr>
              <a:t>3D rotation aligns phone to car</a:t>
            </a:r>
          </a:p>
        </p:txBody>
      </p:sp>
      <p:sp>
        <p:nvSpPr>
          <p:cNvPr id="17415" name="Arrow 17415"/>
          <p:cNvSpPr/>
          <p:nvPr/>
        </p:nvSpPr>
        <p:spPr>
          <a:xfrm>
            <a:off x="2414015" y="1371600"/>
            <a:ext cx="210312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txBody>
          <a:bodyPr wrap="square" lIns="91440" tIns="27432" rIns="91440" bIns="27432" rtlCol="0" anchor="ctr"/>
          <a:lstStyle/>
          <a:p>
            <a:endParaRPr lang="en-US"/>
          </a:p>
        </p:txBody>
      </p:sp>
      <p:sp>
        <p:nvSpPr>
          <p:cNvPr id="17416" name="Flowchart: Process 17416"/>
          <p:cNvSpPr/>
          <p:nvPr/>
        </p:nvSpPr>
        <p:spPr>
          <a:xfrm>
            <a:off x="2660903" y="1188720"/>
            <a:ext cx="2103120" cy="566928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en-US" sz="1100" b="1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2  Parallel AI + Physics Split</a:t>
            </a:r>
          </a:p>
        </p:txBody>
      </p:sp>
      <p:sp>
        <p:nvSpPr>
          <p:cNvPr id="17417" name="Shape 17417"/>
          <p:cNvSpPr/>
          <p:nvPr/>
        </p:nvSpPr>
        <p:spPr>
          <a:xfrm>
            <a:off x="2660903" y="1810512"/>
            <a:ext cx="2103120" cy="2377440"/>
          </a:xfrm>
          <a:prstGeom prst="roundRect">
            <a:avLst>
              <a:gd name="adj" fmla="val 5161"/>
            </a:avLst>
          </a:prstGeom>
          <a:solidFill>
            <a:srgbClr val="F5F9FC"/>
          </a:solidFill>
          <a:ln w="12700">
            <a:solidFill>
              <a:srgbClr val="C9D3DC"/>
            </a:solidFill>
            <a:prstDash val="solid"/>
          </a:ln>
        </p:spPr>
        <p:txBody>
          <a:bodyPr wrap="square" lIns="91440" tIns="27432" rIns="91440" bIns="27432" rtlCol="0" anchor="ctr"/>
          <a:lstStyle/>
          <a:p>
            <a:endParaRPr lang="en-US"/>
          </a:p>
        </p:txBody>
      </p:sp>
      <p:sp>
        <p:nvSpPr>
          <p:cNvPr id="17418" name="Text 17418"/>
          <p:cNvSpPr txBox="1"/>
          <p:nvPr/>
        </p:nvSpPr>
        <p:spPr>
          <a:xfrm>
            <a:off x="2679191" y="1847088"/>
            <a:ext cx="2066543" cy="2286000"/>
          </a:xfrm>
          <a:prstGeom prst="rect">
            <a:avLst/>
          </a:prstGeom>
          <a:noFill/>
          <a:ln/>
        </p:spPr>
        <p:txBody>
          <a:bodyPr wrap="square" lIns="50800" tIns="76200" rIns="762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Path A : </a:t>
            </a:r>
          </a:p>
          <a:p>
            <a:pPr>
              <a:spcAft>
                <a:spcPts val="400"/>
              </a:spcAft>
              <a:buSzPct val="100000"/>
            </a:pPr>
            <a:r>
              <a:rPr lang="en-US" sz="12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     </a:t>
            </a:r>
            <a:r>
              <a:rPr lang="en-US" sz="120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NHC forces Vy = </a:t>
            </a:r>
            <a:r>
              <a:rPr lang="en-US" sz="120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Vz</a:t>
            </a:r>
            <a:r>
              <a:rPr lang="en-US" sz="120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= 0</a:t>
            </a:r>
          </a:p>
          <a:p>
            <a:pPr>
              <a:spcAft>
                <a:spcPts val="400"/>
              </a:spcAft>
              <a:buSzPct val="100000"/>
            </a:pPr>
            <a:endParaRPr lang="en-US" sz="120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Path B : </a:t>
            </a:r>
            <a:r>
              <a:rPr lang="en-US" sz="120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TFLite</a:t>
            </a:r>
            <a:r>
              <a:rPr lang="en-US" sz="120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1D-CNN predicts Vx, filters potholes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endParaRPr lang="en-US" sz="1200" b="1" dirty="0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ZUPT : </a:t>
            </a:r>
            <a:r>
              <a:rPr lang="en-US" sz="120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idle-engine classifier forces V = 0</a:t>
            </a:r>
          </a:p>
        </p:txBody>
      </p:sp>
      <p:sp>
        <p:nvSpPr>
          <p:cNvPr id="17419" name="Arrow 17419"/>
          <p:cNvSpPr/>
          <p:nvPr/>
        </p:nvSpPr>
        <p:spPr>
          <a:xfrm>
            <a:off x="4800600" y="1371600"/>
            <a:ext cx="210312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txBody>
          <a:bodyPr wrap="square" lIns="91440" tIns="27432" rIns="91440" bIns="27432" rtlCol="0" anchor="ctr"/>
          <a:lstStyle/>
          <a:p>
            <a:endParaRPr lang="en-US"/>
          </a:p>
        </p:txBody>
      </p:sp>
      <p:sp>
        <p:nvSpPr>
          <p:cNvPr id="17420" name="Flowchart: Process 17420"/>
          <p:cNvSpPr/>
          <p:nvPr/>
        </p:nvSpPr>
        <p:spPr>
          <a:xfrm>
            <a:off x="5047488" y="1188720"/>
            <a:ext cx="2103120" cy="566928"/>
          </a:xfrm>
          <a:prstGeom prst="flowChart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en-US" sz="1100" b="1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3  GNSS + INS Fusion (ESKF)</a:t>
            </a:r>
          </a:p>
        </p:txBody>
      </p:sp>
      <p:sp>
        <p:nvSpPr>
          <p:cNvPr id="17421" name="Shape 17421"/>
          <p:cNvSpPr/>
          <p:nvPr/>
        </p:nvSpPr>
        <p:spPr>
          <a:xfrm>
            <a:off x="5047488" y="1810512"/>
            <a:ext cx="2103120" cy="2377440"/>
          </a:xfrm>
          <a:prstGeom prst="roundRect">
            <a:avLst>
              <a:gd name="adj" fmla="val 5161"/>
            </a:avLst>
          </a:prstGeom>
          <a:solidFill>
            <a:srgbClr val="F5F9FC"/>
          </a:solidFill>
          <a:ln w="12700">
            <a:solidFill>
              <a:srgbClr val="C9D3DC"/>
            </a:solidFill>
            <a:prstDash val="solid"/>
          </a:ln>
        </p:spPr>
        <p:txBody>
          <a:bodyPr wrap="square" lIns="91440" tIns="27432" rIns="91440" bIns="27432" rtlCol="0" anchor="ctr"/>
          <a:lstStyle/>
          <a:p>
            <a:endParaRPr lang="en-US"/>
          </a:p>
        </p:txBody>
      </p:sp>
      <p:sp>
        <p:nvSpPr>
          <p:cNvPr id="17422" name="Text 17422"/>
          <p:cNvSpPr txBox="1"/>
          <p:nvPr/>
        </p:nvSpPr>
        <p:spPr>
          <a:xfrm>
            <a:off x="5065775" y="1847088"/>
            <a:ext cx="2066543" cy="2286000"/>
          </a:xfrm>
          <a:prstGeom prst="rect">
            <a:avLst/>
          </a:prstGeom>
          <a:noFill/>
          <a:ln/>
        </p:spPr>
        <p:txBody>
          <a:bodyPr wrap="square" lIns="50800" tIns="76200" rIns="762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GNSS on : </a:t>
            </a:r>
          </a:p>
          <a:p>
            <a:pPr>
              <a:spcAft>
                <a:spcPts val="400"/>
              </a:spcAft>
              <a:buSzPct val="100000"/>
            </a:pPr>
            <a:r>
              <a:rPr lang="en-US" sz="12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      </a:t>
            </a:r>
            <a:r>
              <a:rPr lang="en-US" sz="120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learn zero-g bias</a:t>
            </a:r>
          </a:p>
          <a:p>
            <a:pPr>
              <a:spcAft>
                <a:spcPts val="400"/>
              </a:spcAft>
              <a:buSzPct val="100000"/>
            </a:pPr>
            <a:endParaRPr lang="en-US" sz="120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GNSS off :</a:t>
            </a:r>
          </a:p>
          <a:p>
            <a:pPr>
              <a:spcAft>
                <a:spcPts val="400"/>
              </a:spcAft>
              <a:buSzPct val="100000"/>
            </a:pPr>
            <a:r>
              <a:rPr lang="en-US" sz="12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      </a:t>
            </a:r>
            <a:r>
              <a:rPr lang="en-US" sz="120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switch in &lt;10 </a:t>
            </a:r>
            <a:r>
              <a:rPr lang="en-US" sz="120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ms</a:t>
            </a:r>
            <a:endParaRPr lang="en-US" sz="120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endParaRPr lang="en-US" sz="120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AI velocity + NHC − stored bias = dead reckoning</a:t>
            </a:r>
          </a:p>
        </p:txBody>
      </p:sp>
      <p:sp>
        <p:nvSpPr>
          <p:cNvPr id="17423" name="Arrow 17423"/>
          <p:cNvSpPr/>
          <p:nvPr/>
        </p:nvSpPr>
        <p:spPr>
          <a:xfrm>
            <a:off x="7187183" y="1371600"/>
            <a:ext cx="210312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txBody>
          <a:bodyPr wrap="square" lIns="91440" tIns="27432" rIns="91440" bIns="27432" rtlCol="0" anchor="ctr"/>
          <a:lstStyle/>
          <a:p>
            <a:endParaRPr lang="en-US"/>
          </a:p>
        </p:txBody>
      </p:sp>
      <p:sp>
        <p:nvSpPr>
          <p:cNvPr id="17424" name="Flowchart: Process 17424"/>
          <p:cNvSpPr/>
          <p:nvPr/>
        </p:nvSpPr>
        <p:spPr>
          <a:xfrm>
            <a:off x="7434072" y="1188720"/>
            <a:ext cx="2103120" cy="566928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en-US" sz="1100" b="1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4  Map-Matching Layer</a:t>
            </a:r>
          </a:p>
        </p:txBody>
      </p:sp>
      <p:sp>
        <p:nvSpPr>
          <p:cNvPr id="17425" name="Shape 17425"/>
          <p:cNvSpPr/>
          <p:nvPr/>
        </p:nvSpPr>
        <p:spPr>
          <a:xfrm>
            <a:off x="7434072" y="1810512"/>
            <a:ext cx="2103120" cy="2377440"/>
          </a:xfrm>
          <a:prstGeom prst="roundRect">
            <a:avLst>
              <a:gd name="adj" fmla="val 5161"/>
            </a:avLst>
          </a:prstGeom>
          <a:solidFill>
            <a:srgbClr val="F5F9FC"/>
          </a:solidFill>
          <a:ln w="12700">
            <a:solidFill>
              <a:srgbClr val="C9D3DC"/>
            </a:solidFill>
            <a:prstDash val="solid"/>
          </a:ln>
        </p:spPr>
        <p:txBody>
          <a:bodyPr wrap="square" lIns="91440" tIns="27432" rIns="91440" bIns="27432" rtlCol="0" anchor="ctr"/>
          <a:lstStyle/>
          <a:p>
            <a:endParaRPr lang="en-US"/>
          </a:p>
        </p:txBody>
      </p:sp>
      <p:sp>
        <p:nvSpPr>
          <p:cNvPr id="17426" name="Text 17426"/>
          <p:cNvSpPr txBox="1"/>
          <p:nvPr/>
        </p:nvSpPr>
        <p:spPr>
          <a:xfrm>
            <a:off x="7452360" y="1847088"/>
            <a:ext cx="2066543" cy="2286000"/>
          </a:xfrm>
          <a:prstGeom prst="rect">
            <a:avLst/>
          </a:prstGeom>
          <a:noFill/>
          <a:ln/>
        </p:spPr>
        <p:txBody>
          <a:bodyPr wrap="square" lIns="50800" tIns="76200" rIns="762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</a:rPr>
              <a:t>Overlay X,Y on offline OSM grid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</a:rPr>
              <a:t>HMM + Viterbi checks road topology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</a:rPr>
              <a:t>Snaps drifted path to nearest lane</a:t>
            </a:r>
          </a:p>
        </p:txBody>
      </p:sp>
      <p:sp>
        <p:nvSpPr>
          <p:cNvPr id="17427" name="Arrow 17427"/>
          <p:cNvSpPr/>
          <p:nvPr/>
        </p:nvSpPr>
        <p:spPr>
          <a:xfrm>
            <a:off x="9573768" y="1371600"/>
            <a:ext cx="210312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txBody>
          <a:bodyPr wrap="square" lIns="91440" tIns="27432" rIns="91440" bIns="27432" rtlCol="0" anchor="ctr"/>
          <a:lstStyle/>
          <a:p>
            <a:endParaRPr lang="en-US"/>
          </a:p>
        </p:txBody>
      </p:sp>
      <p:sp>
        <p:nvSpPr>
          <p:cNvPr id="17428" name="Flowchart: Process 17428"/>
          <p:cNvSpPr/>
          <p:nvPr/>
        </p:nvSpPr>
        <p:spPr>
          <a:xfrm>
            <a:off x="9820656" y="1188720"/>
            <a:ext cx="2103120" cy="566928"/>
          </a:xfrm>
          <a:prstGeom prst="flowChart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en-US" sz="1100" b="1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5  Output (UI Layer)</a:t>
            </a:r>
          </a:p>
        </p:txBody>
      </p:sp>
      <p:sp>
        <p:nvSpPr>
          <p:cNvPr id="17429" name="Shape 17429"/>
          <p:cNvSpPr/>
          <p:nvPr/>
        </p:nvSpPr>
        <p:spPr>
          <a:xfrm>
            <a:off x="9820656" y="1810512"/>
            <a:ext cx="2103120" cy="2377440"/>
          </a:xfrm>
          <a:prstGeom prst="roundRect">
            <a:avLst>
              <a:gd name="adj" fmla="val 5161"/>
            </a:avLst>
          </a:prstGeom>
          <a:solidFill>
            <a:srgbClr val="F5F9FC"/>
          </a:solidFill>
          <a:ln w="12700">
            <a:solidFill>
              <a:srgbClr val="C9D3DC"/>
            </a:solidFill>
            <a:prstDash val="solid"/>
          </a:ln>
        </p:spPr>
        <p:txBody>
          <a:bodyPr wrap="square" lIns="91440" tIns="27432" rIns="91440" bIns="27432" rtlCol="0" anchor="ctr"/>
          <a:lstStyle/>
          <a:p>
            <a:endParaRPr lang="en-US"/>
          </a:p>
        </p:txBody>
      </p:sp>
      <p:sp>
        <p:nvSpPr>
          <p:cNvPr id="17430" name="Text 17430"/>
          <p:cNvSpPr txBox="1"/>
          <p:nvPr/>
        </p:nvSpPr>
        <p:spPr>
          <a:xfrm>
            <a:off x="9838944" y="1847088"/>
            <a:ext cx="2066543" cy="2286000"/>
          </a:xfrm>
          <a:prstGeom prst="rect">
            <a:avLst/>
          </a:prstGeom>
          <a:noFill/>
          <a:ln/>
        </p:spPr>
        <p:txBody>
          <a:bodyPr wrap="square" lIns="50800" tIns="76200" rIns="762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</a:rPr>
              <a:t>Corrected coordinates to Kotlin UI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</a:rPr>
              <a:t>Seamless 10 Hz navigation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</a:rPr>
              <a:t>No map freeze or jump</a:t>
            </a:r>
          </a:p>
        </p:txBody>
      </p:sp>
      <p:sp>
        <p:nvSpPr>
          <p:cNvPr id="17431" name="Text 17431"/>
          <p:cNvSpPr txBox="1"/>
          <p:nvPr/>
        </p:nvSpPr>
        <p:spPr>
          <a:xfrm>
            <a:off x="274320" y="4343400"/>
            <a:ext cx="11640312" cy="31089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lIns="91440" tIns="1524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 STACK</a:t>
            </a:r>
          </a:p>
        </p:txBody>
      </p:sp>
      <p:sp>
        <p:nvSpPr>
          <p:cNvPr id="17432" name="Shape 17432"/>
          <p:cNvSpPr/>
          <p:nvPr/>
        </p:nvSpPr>
        <p:spPr>
          <a:xfrm>
            <a:off x="274320" y="4773168"/>
            <a:ext cx="2103120" cy="1508760"/>
          </a:xfrm>
          <a:prstGeom prst="roundRect">
            <a:avLst>
              <a:gd name="adj" fmla="val 5161"/>
            </a:avLst>
          </a:prstGeom>
          <a:solidFill>
            <a:srgbClr val="F5F9FC"/>
          </a:solidFill>
          <a:ln w="12700">
            <a:solidFill>
              <a:srgbClr val="C9D3DC"/>
            </a:solidFill>
            <a:prstDash val="solid"/>
          </a:ln>
        </p:spPr>
        <p:txBody>
          <a:bodyPr wrap="square" lIns="91440" tIns="27432" rIns="91440" bIns="27432" rtlCol="0" anchor="ctr"/>
          <a:lstStyle/>
          <a:p>
            <a:endParaRPr lang="en-US"/>
          </a:p>
        </p:txBody>
      </p:sp>
      <p:sp>
        <p:nvSpPr>
          <p:cNvPr id="17433" name="Shape 17433"/>
          <p:cNvSpPr/>
          <p:nvPr/>
        </p:nvSpPr>
        <p:spPr>
          <a:xfrm>
            <a:off x="365760" y="4846320"/>
            <a:ext cx="1920240" cy="329184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/>
        </p:spPr>
        <p:txBody>
          <a:bodyPr wrap="square" lIns="182880" tIns="0" rIns="91440" bIns="0" rtlCol="0" anchor="ctr"/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Training</a:t>
            </a:r>
          </a:p>
        </p:txBody>
      </p:sp>
      <p:sp>
        <p:nvSpPr>
          <p:cNvPr id="17434" name="Text 17434"/>
          <p:cNvSpPr txBox="1"/>
          <p:nvPr/>
        </p:nvSpPr>
        <p:spPr>
          <a:xfrm>
            <a:off x="292608" y="5212080"/>
            <a:ext cx="2066543" cy="1051560"/>
          </a:xfrm>
          <a:prstGeom prst="rect">
            <a:avLst/>
          </a:prstGeom>
          <a:noFill/>
          <a:ln/>
        </p:spPr>
        <p:txBody>
          <a:bodyPr wrap="square" lIns="50800" tIns="76200" rIns="762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>
                <a:solidFill>
                  <a:srgbClr val="222222"/>
                </a:solidFill>
                <a:latin typeface="Arial"/>
                <a:ea typeface="Arial"/>
                <a:cs typeface="Arial"/>
              </a:rPr>
              <a:t>Python · PyTorch · Pandas · SciPy (FFT)</a:t>
            </a:r>
          </a:p>
        </p:txBody>
      </p:sp>
      <p:sp>
        <p:nvSpPr>
          <p:cNvPr id="17435" name="Shape 17435"/>
          <p:cNvSpPr/>
          <p:nvPr/>
        </p:nvSpPr>
        <p:spPr>
          <a:xfrm>
            <a:off x="2660903" y="4773168"/>
            <a:ext cx="2103120" cy="1508760"/>
          </a:xfrm>
          <a:prstGeom prst="roundRect">
            <a:avLst>
              <a:gd name="adj" fmla="val 5161"/>
            </a:avLst>
          </a:prstGeom>
          <a:solidFill>
            <a:srgbClr val="F5F9FC"/>
          </a:solidFill>
          <a:ln w="12700">
            <a:solidFill>
              <a:srgbClr val="C9D3DC"/>
            </a:solidFill>
            <a:prstDash val="solid"/>
          </a:ln>
        </p:spPr>
        <p:txBody>
          <a:bodyPr wrap="square" lIns="91440" tIns="27432" rIns="91440" bIns="27432" rtlCol="0" anchor="ctr"/>
          <a:lstStyle/>
          <a:p>
            <a:endParaRPr lang="en-US"/>
          </a:p>
        </p:txBody>
      </p:sp>
      <p:sp>
        <p:nvSpPr>
          <p:cNvPr id="17436" name="Shape 17436"/>
          <p:cNvSpPr/>
          <p:nvPr/>
        </p:nvSpPr>
        <p:spPr>
          <a:xfrm>
            <a:off x="2752344" y="4846320"/>
            <a:ext cx="1920240" cy="329184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/>
        </p:spPr>
        <p:txBody>
          <a:bodyPr wrap="square" lIns="182880" tIns="0" rIns="91440" bIns="0" rtlCol="0" anchor="ctr"/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On-Device AI</a:t>
            </a:r>
          </a:p>
        </p:txBody>
      </p:sp>
      <p:sp>
        <p:nvSpPr>
          <p:cNvPr id="17437" name="Text 17437"/>
          <p:cNvSpPr txBox="1"/>
          <p:nvPr/>
        </p:nvSpPr>
        <p:spPr>
          <a:xfrm>
            <a:off x="2679191" y="5212080"/>
            <a:ext cx="2066543" cy="1051560"/>
          </a:xfrm>
          <a:prstGeom prst="rect">
            <a:avLst/>
          </a:prstGeom>
          <a:noFill/>
          <a:ln/>
        </p:spPr>
        <p:txBody>
          <a:bodyPr wrap="square" lIns="50800" tIns="76200" rIns="762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>
                <a:solidFill>
                  <a:srgbClr val="222222"/>
                </a:solidFill>
                <a:latin typeface="Arial"/>
                <a:ea typeface="Arial"/>
                <a:cs typeface="Arial"/>
              </a:rPr>
              <a:t>TFLite / ONNX · INT8 quantized · NNAPI (NPU)</a:t>
            </a:r>
          </a:p>
        </p:txBody>
      </p:sp>
      <p:sp>
        <p:nvSpPr>
          <p:cNvPr id="17438" name="Shape 17438"/>
          <p:cNvSpPr/>
          <p:nvPr/>
        </p:nvSpPr>
        <p:spPr>
          <a:xfrm>
            <a:off x="5047488" y="4773168"/>
            <a:ext cx="2103120" cy="1508760"/>
          </a:xfrm>
          <a:prstGeom prst="roundRect">
            <a:avLst>
              <a:gd name="adj" fmla="val 5161"/>
            </a:avLst>
          </a:prstGeom>
          <a:solidFill>
            <a:srgbClr val="F5F9FC"/>
          </a:solidFill>
          <a:ln w="12700">
            <a:solidFill>
              <a:srgbClr val="C9D3DC"/>
            </a:solidFill>
            <a:prstDash val="solid"/>
          </a:ln>
        </p:spPr>
        <p:txBody>
          <a:bodyPr wrap="square" lIns="91440" tIns="27432" rIns="91440" bIns="27432" rtlCol="0" anchor="ctr"/>
          <a:lstStyle/>
          <a:p>
            <a:endParaRPr lang="en-US"/>
          </a:p>
        </p:txBody>
      </p:sp>
      <p:sp>
        <p:nvSpPr>
          <p:cNvPr id="17439" name="Shape 17439"/>
          <p:cNvSpPr/>
          <p:nvPr/>
        </p:nvSpPr>
        <p:spPr>
          <a:xfrm>
            <a:off x="5138927" y="4846320"/>
            <a:ext cx="1920240" cy="329184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/>
        </p:spPr>
        <p:txBody>
          <a:bodyPr wrap="square" lIns="182880" tIns="0" rIns="91440" bIns="0" rtlCol="0" anchor="ctr"/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Mobile Engine</a:t>
            </a:r>
          </a:p>
        </p:txBody>
      </p:sp>
      <p:sp>
        <p:nvSpPr>
          <p:cNvPr id="17440" name="Text 17440"/>
          <p:cNvSpPr txBox="1"/>
          <p:nvPr/>
        </p:nvSpPr>
        <p:spPr>
          <a:xfrm>
            <a:off x="5065775" y="5212080"/>
            <a:ext cx="2066543" cy="1051560"/>
          </a:xfrm>
          <a:prstGeom prst="rect">
            <a:avLst/>
          </a:prstGeom>
          <a:noFill/>
          <a:ln/>
        </p:spPr>
        <p:txBody>
          <a:bodyPr wrap="square" lIns="50800" tIns="76200" rIns="762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>
                <a:solidFill>
                  <a:srgbClr val="222222"/>
                </a:solidFill>
                <a:latin typeface="Arial"/>
                <a:ea typeface="Arial"/>
                <a:cs typeface="Arial"/>
              </a:rPr>
              <a:t>Kotlin · C++ + Eigen via JNI · Mapbox / Google Maps SDK</a:t>
            </a:r>
          </a:p>
        </p:txBody>
      </p:sp>
      <p:sp>
        <p:nvSpPr>
          <p:cNvPr id="17441" name="Shape 17441"/>
          <p:cNvSpPr/>
          <p:nvPr/>
        </p:nvSpPr>
        <p:spPr>
          <a:xfrm>
            <a:off x="7434072" y="4773168"/>
            <a:ext cx="2103120" cy="1508760"/>
          </a:xfrm>
          <a:prstGeom prst="roundRect">
            <a:avLst>
              <a:gd name="adj" fmla="val 5161"/>
            </a:avLst>
          </a:prstGeom>
          <a:solidFill>
            <a:srgbClr val="F5F9FC"/>
          </a:solidFill>
          <a:ln w="12700">
            <a:solidFill>
              <a:srgbClr val="C9D3DC"/>
            </a:solidFill>
            <a:prstDash val="solid"/>
          </a:ln>
        </p:spPr>
        <p:txBody>
          <a:bodyPr wrap="square" lIns="91440" tIns="27432" rIns="91440" bIns="27432" rtlCol="0" anchor="ctr"/>
          <a:lstStyle/>
          <a:p>
            <a:endParaRPr lang="en-US"/>
          </a:p>
        </p:txBody>
      </p:sp>
      <p:sp>
        <p:nvSpPr>
          <p:cNvPr id="17442" name="Shape 17442"/>
          <p:cNvSpPr/>
          <p:nvPr/>
        </p:nvSpPr>
        <p:spPr>
          <a:xfrm>
            <a:off x="7525512" y="4846320"/>
            <a:ext cx="1920240" cy="329184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/>
        </p:spPr>
        <p:txBody>
          <a:bodyPr wrap="square" lIns="182880" tIns="0" rIns="91440" bIns="0" rtlCol="0" anchor="ctr"/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Map &amp; Routing</a:t>
            </a:r>
          </a:p>
        </p:txBody>
      </p:sp>
      <p:sp>
        <p:nvSpPr>
          <p:cNvPr id="17443" name="Text 17443"/>
          <p:cNvSpPr txBox="1"/>
          <p:nvPr/>
        </p:nvSpPr>
        <p:spPr>
          <a:xfrm>
            <a:off x="7452360" y="5212080"/>
            <a:ext cx="2066543" cy="1051560"/>
          </a:xfrm>
          <a:prstGeom prst="rect">
            <a:avLst/>
          </a:prstGeom>
          <a:noFill/>
          <a:ln/>
        </p:spPr>
        <p:txBody>
          <a:bodyPr wrap="square" lIns="50800" tIns="76200" rIns="762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>
                <a:solidFill>
                  <a:srgbClr val="222222"/>
                </a:solidFill>
                <a:latin typeface="Arial"/>
                <a:ea typeface="Arial"/>
                <a:cs typeface="Arial"/>
              </a:rPr>
              <a:t>Valhalla · OpenStreetMap · HMM</a:t>
            </a:r>
          </a:p>
        </p:txBody>
      </p:sp>
      <p:sp>
        <p:nvSpPr>
          <p:cNvPr id="17444" name="Shape 17444"/>
          <p:cNvSpPr/>
          <p:nvPr/>
        </p:nvSpPr>
        <p:spPr>
          <a:xfrm>
            <a:off x="9820656" y="4773168"/>
            <a:ext cx="2103120" cy="1508760"/>
          </a:xfrm>
          <a:prstGeom prst="roundRect">
            <a:avLst>
              <a:gd name="adj" fmla="val 5161"/>
            </a:avLst>
          </a:prstGeom>
          <a:solidFill>
            <a:srgbClr val="F5F9FC"/>
          </a:solidFill>
          <a:ln w="12700">
            <a:solidFill>
              <a:srgbClr val="C9D3DC"/>
            </a:solidFill>
            <a:prstDash val="solid"/>
          </a:ln>
        </p:spPr>
        <p:txBody>
          <a:bodyPr wrap="square" lIns="91440" tIns="27432" rIns="91440" bIns="27432" rtlCol="0" anchor="ctr"/>
          <a:lstStyle/>
          <a:p>
            <a:endParaRPr lang="en-US"/>
          </a:p>
        </p:txBody>
      </p:sp>
      <p:sp>
        <p:nvSpPr>
          <p:cNvPr id="17445" name="Shape 17445"/>
          <p:cNvSpPr/>
          <p:nvPr/>
        </p:nvSpPr>
        <p:spPr>
          <a:xfrm>
            <a:off x="9912096" y="4846320"/>
            <a:ext cx="1920240" cy="329184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/>
        </p:spPr>
        <p:txBody>
          <a:bodyPr wrap="square" lIns="182880" tIns="0" rIns="91440" bIns="0" rtlCol="0" anchor="ctr"/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Enterprise Edge</a:t>
            </a:r>
          </a:p>
        </p:txBody>
      </p:sp>
      <p:sp>
        <p:nvSpPr>
          <p:cNvPr id="17446" name="Text 17446"/>
          <p:cNvSpPr txBox="1"/>
          <p:nvPr/>
        </p:nvSpPr>
        <p:spPr>
          <a:xfrm>
            <a:off x="9838944" y="5212080"/>
            <a:ext cx="2066543" cy="1051560"/>
          </a:xfrm>
          <a:prstGeom prst="rect">
            <a:avLst/>
          </a:prstGeom>
          <a:noFill/>
          <a:ln/>
        </p:spPr>
        <p:txBody>
          <a:bodyPr wrap="square" lIns="50800" tIns="76200" rIns="762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>
                <a:solidFill>
                  <a:srgbClr val="222222"/>
                </a:solidFill>
                <a:latin typeface="Arial"/>
                <a:ea typeface="Arial"/>
                <a:cs typeface="Arial"/>
              </a:rPr>
              <a:t>ROS2 (C++) · 200 Hz FOG IMU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B146F0-BD7C-11AE-7F8B-22B9C8562F3A}"/>
              </a:ext>
            </a:extLst>
          </p:cNvPr>
          <p:cNvSpPr txBox="1"/>
          <p:nvPr/>
        </p:nvSpPr>
        <p:spPr>
          <a:xfrm>
            <a:off x="189239" y="298080"/>
            <a:ext cx="2008677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@</a:t>
            </a:r>
            <a:r>
              <a:rPr lang="en-US" sz="2800" b="1" i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Enigm</a:t>
            </a:r>
            <a:endParaRPr lang="en-US" sz="2800" b="1" i="1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fornian FB" panose="0207040306080B03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9FB716-C520-2912-A67C-5A4C67A17490}"/>
              </a:ext>
            </a:extLst>
          </p:cNvPr>
          <p:cNvSpPr txBox="1"/>
          <p:nvPr/>
        </p:nvSpPr>
        <p:spPr>
          <a:xfrm>
            <a:off x="1581301" y="357887"/>
            <a:ext cx="463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fornian FB" panose="0207040306080B030204" pitchFamily="18" charset="0"/>
              </a:rPr>
              <a:t>@</a:t>
            </a:r>
            <a:endParaRPr lang="en-US" sz="3200" i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FF4919B-3D6B-88E4-42DD-04310EE9FEB0}"/>
              </a:ext>
            </a:extLst>
          </p:cNvPr>
          <p:cNvSpPr txBox="1">
            <a:spLocks/>
          </p:cNvSpPr>
          <p:nvPr/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pPr>
                <a:defRPr/>
              </a:pPr>
              <a:t>4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C22481D0-D545-152B-CC11-7E6F08ADD994}"/>
              </a:ext>
            </a:extLst>
          </p:cNvPr>
          <p:cNvSpPr txBox="1">
            <a:spLocks/>
          </p:cNvSpPr>
          <p:nvPr/>
        </p:nvSpPr>
        <p:spPr>
          <a:xfrm>
            <a:off x="4648200" y="6356353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@SIH Idea submission- Template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97B8C9-A78C-3DE6-0DF2-F62A21844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99365"/>
            <a:ext cx="12191999" cy="45863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1C28A0-B8FB-0E4B-A302-043234DBAAA4}"/>
              </a:ext>
            </a:extLst>
          </p:cNvPr>
          <p:cNvSpPr txBox="1"/>
          <p:nvPr/>
        </p:nvSpPr>
        <p:spPr>
          <a:xfrm>
            <a:off x="4345106" y="6404519"/>
            <a:ext cx="2008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@</a:t>
            </a:r>
            <a:r>
              <a:rPr lang="en-US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Enigm</a:t>
            </a:r>
            <a:endParaRPr lang="en-US" sz="28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fornian FB" panose="0207040306080B0302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B1FC8D-3D83-38E5-76DE-337C52BF10A2}"/>
              </a:ext>
            </a:extLst>
          </p:cNvPr>
          <p:cNvSpPr txBox="1"/>
          <p:nvPr/>
        </p:nvSpPr>
        <p:spPr>
          <a:xfrm>
            <a:off x="5696610" y="6404519"/>
            <a:ext cx="463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fornian FB" panose="0207040306080B030204" pitchFamily="18" charset="0"/>
              </a:rPr>
              <a:t>@</a:t>
            </a:r>
            <a:endParaRPr lang="en-US" sz="32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412" name="Text 17412"/>
          <p:cNvSpPr txBox="1"/>
          <p:nvPr/>
        </p:nvSpPr>
        <p:spPr>
          <a:xfrm>
            <a:off x="274320" y="1143000"/>
            <a:ext cx="5715000" cy="31089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lIns="91440" tIns="1524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FEASIBILITY</a:t>
            </a:r>
          </a:p>
        </p:txBody>
      </p:sp>
      <p:sp>
        <p:nvSpPr>
          <p:cNvPr id="17413" name="Shape 17413"/>
          <p:cNvSpPr/>
          <p:nvPr/>
        </p:nvSpPr>
        <p:spPr>
          <a:xfrm>
            <a:off x="274320" y="1508760"/>
            <a:ext cx="5715000" cy="1920240"/>
          </a:xfrm>
          <a:prstGeom prst="roundRect">
            <a:avLst>
              <a:gd name="adj" fmla="val 5161"/>
            </a:avLst>
          </a:prstGeom>
          <a:solidFill>
            <a:srgbClr val="F5F9FC"/>
          </a:solidFill>
          <a:ln w="12700">
            <a:solidFill>
              <a:srgbClr val="C9D3DC"/>
            </a:solidFill>
            <a:prstDash val="solid"/>
          </a:ln>
        </p:spPr>
        <p:txBody>
          <a:bodyPr wrap="square" lIns="91440" tIns="27432" rIns="91440" bIns="27432" rtlCol="0" anchor="ctr"/>
          <a:lstStyle/>
          <a:p>
            <a:endParaRPr lang="en-US"/>
          </a:p>
        </p:txBody>
      </p:sp>
      <p:sp>
        <p:nvSpPr>
          <p:cNvPr id="17414" name="Text 17414"/>
          <p:cNvSpPr txBox="1"/>
          <p:nvPr/>
        </p:nvSpPr>
        <p:spPr>
          <a:xfrm>
            <a:off x="301752" y="1536192"/>
            <a:ext cx="5669280" cy="1874519"/>
          </a:xfrm>
          <a:prstGeom prst="rect">
            <a:avLst/>
          </a:prstGeom>
          <a:noFill/>
          <a:ln/>
        </p:spPr>
        <p:txBody>
          <a:bodyPr wrap="square" lIns="50800" tIns="76200" rIns="762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Technical : </a:t>
            </a:r>
            <a:r>
              <a:rPr lang="en-US" sz="1250">
                <a:solidFill>
                  <a:srgbClr val="222222"/>
                </a:solidFill>
                <a:latin typeface="Arial"/>
                <a:ea typeface="Arial"/>
                <a:cs typeface="Arial"/>
              </a:rPr>
              <a:t>ESKF and NHC are proven in robotics &amp; luxury cars; C++/JNI handles 100 Hz IMU without GC pauses.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Data : </a:t>
            </a:r>
            <a:r>
              <a:rPr lang="en-US" sz="1250">
                <a:solidFill>
                  <a:srgbClr val="222222"/>
                </a:solidFill>
                <a:latin typeface="Arial"/>
                <a:ea typeface="Arial"/>
                <a:cs typeface="Arial"/>
              </a:rPr>
              <a:t>IO-VNBD pairs phone IMU with CAN odometry ground truth to train the 1D-CNN with no extra hardware.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Operational : </a:t>
            </a:r>
            <a:r>
              <a:rPr lang="en-US" sz="125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100% software: no OBD-II dongle, no mechanic, just an app install.</a:t>
            </a:r>
          </a:p>
        </p:txBody>
      </p:sp>
      <p:sp>
        <p:nvSpPr>
          <p:cNvPr id="17415" name="Shape 17415"/>
          <p:cNvSpPr/>
          <p:nvPr/>
        </p:nvSpPr>
        <p:spPr>
          <a:xfrm>
            <a:off x="6217920" y="1143000"/>
            <a:ext cx="5696712" cy="310896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/>
        </p:spPr>
        <p:txBody>
          <a:bodyPr wrap="square" lIns="182880" tIns="0" rIns="91440" bIns="0" rtlCol="0" anchor="ctr"/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VIABILITY</a:t>
            </a:r>
          </a:p>
        </p:txBody>
      </p:sp>
      <p:sp>
        <p:nvSpPr>
          <p:cNvPr id="17416" name="Shape 17416"/>
          <p:cNvSpPr/>
          <p:nvPr/>
        </p:nvSpPr>
        <p:spPr>
          <a:xfrm>
            <a:off x="6217920" y="1508760"/>
            <a:ext cx="5696712" cy="1920240"/>
          </a:xfrm>
          <a:prstGeom prst="roundRect">
            <a:avLst>
              <a:gd name="adj" fmla="val 5161"/>
            </a:avLst>
          </a:prstGeom>
          <a:solidFill>
            <a:srgbClr val="F5F9FC"/>
          </a:solidFill>
          <a:ln w="12700">
            <a:solidFill>
              <a:srgbClr val="C9D3DC"/>
            </a:solidFill>
            <a:prstDash val="solid"/>
          </a:ln>
        </p:spPr>
        <p:txBody>
          <a:bodyPr wrap="square" lIns="91440" tIns="27432" rIns="91440" bIns="27432" rtlCol="0" anchor="ctr"/>
          <a:lstStyle/>
          <a:p>
            <a:endParaRPr lang="en-US"/>
          </a:p>
        </p:txBody>
      </p:sp>
      <p:sp>
        <p:nvSpPr>
          <p:cNvPr id="17417" name="Text 17417"/>
          <p:cNvSpPr txBox="1"/>
          <p:nvPr/>
        </p:nvSpPr>
        <p:spPr>
          <a:xfrm>
            <a:off x="6245352" y="1536192"/>
            <a:ext cx="5650992" cy="1874519"/>
          </a:xfrm>
          <a:prstGeom prst="rect">
            <a:avLst/>
          </a:prstGeom>
          <a:noFill/>
          <a:ln/>
        </p:spPr>
        <p:txBody>
          <a:bodyPr wrap="square" lIns="50800" tIns="76200" rIns="762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b="1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Economic : </a:t>
            </a:r>
            <a:r>
              <a:rPr lang="en-US" sz="1250">
                <a:solidFill>
                  <a:srgbClr val="222222"/>
                </a:solidFill>
                <a:latin typeface="Arial"/>
                <a:ea typeface="Arial"/>
                <a:cs typeface="Arial"/>
              </a:rPr>
              <a:t>Runs on existing budget Android phones, so deployment cost is near zero.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b="1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Market : </a:t>
            </a:r>
            <a:r>
              <a:rPr lang="en-US" sz="1250">
                <a:solidFill>
                  <a:srgbClr val="222222"/>
                </a:solidFill>
                <a:latin typeface="Arial"/>
                <a:ea typeface="Arial"/>
                <a:cs typeface="Arial"/>
              </a:rPr>
              <a:t>Fits Zomato, Swiggy, Delhivery &amp; Uber gig fleets losing time and fuel to lost GNSS.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b="1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Scalability : </a:t>
            </a:r>
            <a:r>
              <a:rPr lang="en-US" sz="1250">
                <a:solidFill>
                  <a:srgbClr val="222222"/>
                </a:solidFill>
                <a:latin typeface="Arial"/>
                <a:ea typeface="Arial"/>
                <a:cs typeface="Arial"/>
              </a:rPr>
              <a:t>Hardware-agnostic bias learning works on any phone brand; ROS2 mode extends it to fleets.</a:t>
            </a:r>
          </a:p>
        </p:txBody>
      </p:sp>
      <p:sp>
        <p:nvSpPr>
          <p:cNvPr id="17418" name="Shape 17418"/>
          <p:cNvSpPr/>
          <p:nvPr/>
        </p:nvSpPr>
        <p:spPr>
          <a:xfrm>
            <a:off x="274320" y="3566160"/>
            <a:ext cx="11640312" cy="347472"/>
          </a:xfrm>
          <a:prstGeom prst="roundRect">
            <a:avLst>
              <a:gd name="adj" fmla="val 50000"/>
            </a:avLst>
          </a:prstGeom>
          <a:solidFill>
            <a:srgbClr val="1F497D"/>
          </a:solidFill>
          <a:ln/>
        </p:spPr>
        <p:txBody>
          <a:bodyPr wrap="square" lIns="182880" tIns="0" rIns="91440" bIns="0" rtlCol="0" anchor="ctr"/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CHALLENGES &amp; MITIGATION</a:t>
            </a:r>
          </a:p>
        </p:txBody>
      </p:sp>
      <p:sp>
        <p:nvSpPr>
          <p:cNvPr id="17419" name="Flowchart: Process 17419"/>
          <p:cNvSpPr/>
          <p:nvPr/>
        </p:nvSpPr>
        <p:spPr>
          <a:xfrm>
            <a:off x="274320" y="4041648"/>
            <a:ext cx="2011680" cy="640080"/>
          </a:xfrm>
          <a:prstGeom prst="flowChart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en-US" sz="1100" b="1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Battery &amp; Heat</a:t>
            </a:r>
          </a:p>
        </p:txBody>
      </p:sp>
      <p:sp>
        <p:nvSpPr>
          <p:cNvPr id="17420" name="Shape 17420"/>
          <p:cNvSpPr/>
          <p:nvPr/>
        </p:nvSpPr>
        <p:spPr>
          <a:xfrm>
            <a:off x="2377440" y="4041648"/>
            <a:ext cx="4160520" cy="640080"/>
          </a:xfrm>
          <a:prstGeom prst="roundRect">
            <a:avLst>
              <a:gd name="adj" fmla="val 5161"/>
            </a:avLst>
          </a:prstGeom>
          <a:solidFill>
            <a:srgbClr val="F5F9FC"/>
          </a:solidFill>
          <a:ln w="12700">
            <a:solidFill>
              <a:srgbClr val="C9D3DC"/>
            </a:solidFill>
            <a:prstDash val="solid"/>
          </a:ln>
        </p:spPr>
        <p:txBody>
          <a:bodyPr wrap="square" lIns="91440" tIns="27432" rIns="91440" bIns="27432" rtlCol="0" anchor="ctr"/>
          <a:lstStyle/>
          <a:p>
            <a:endParaRPr lang="en-US"/>
          </a:p>
        </p:txBody>
      </p:sp>
      <p:sp>
        <p:nvSpPr>
          <p:cNvPr id="17421" name="Text 17421"/>
          <p:cNvSpPr txBox="1"/>
          <p:nvPr/>
        </p:nvSpPr>
        <p:spPr>
          <a:xfrm>
            <a:off x="2395728" y="4014215"/>
            <a:ext cx="4114800" cy="685800"/>
          </a:xfrm>
          <a:prstGeom prst="rect">
            <a:avLst/>
          </a:prstGeom>
          <a:noFill/>
          <a:ln/>
        </p:spPr>
        <p:txBody>
          <a:bodyPr wrap="square" lIns="50800" tIns="76200" rIns="762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Challenge : </a:t>
            </a: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</a:rPr>
              <a:t>Continuous 100 Hz deep learning can overheat budget phones and cause throttling.</a:t>
            </a:r>
          </a:p>
        </p:txBody>
      </p:sp>
      <p:sp>
        <p:nvSpPr>
          <p:cNvPr id="17422" name="Arrow 17422"/>
          <p:cNvSpPr/>
          <p:nvPr/>
        </p:nvSpPr>
        <p:spPr>
          <a:xfrm>
            <a:off x="6583680" y="4242816"/>
            <a:ext cx="274320" cy="23774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txBody>
          <a:bodyPr wrap="square" lIns="91440" tIns="27432" rIns="91440" bIns="27432" rtlCol="0" anchor="ctr"/>
          <a:lstStyle/>
          <a:p>
            <a:endParaRPr lang="en-US"/>
          </a:p>
        </p:txBody>
      </p:sp>
      <p:sp>
        <p:nvSpPr>
          <p:cNvPr id="17423" name="Shape 17423"/>
          <p:cNvSpPr/>
          <p:nvPr/>
        </p:nvSpPr>
        <p:spPr>
          <a:xfrm>
            <a:off x="6903720" y="4041648"/>
            <a:ext cx="5010912" cy="640080"/>
          </a:xfrm>
          <a:prstGeom prst="roundRect">
            <a:avLst>
              <a:gd name="adj" fmla="val 5161"/>
            </a:avLst>
          </a:prstGeom>
          <a:solidFill>
            <a:srgbClr val="F5F9FC"/>
          </a:solidFill>
          <a:ln w="12700">
            <a:solidFill>
              <a:srgbClr val="C9D3DC"/>
            </a:solidFill>
            <a:prstDash val="solid"/>
          </a:ln>
        </p:spPr>
        <p:txBody>
          <a:bodyPr wrap="square" lIns="91440" tIns="27432" rIns="91440" bIns="27432" rtlCol="0" anchor="ctr"/>
          <a:lstStyle/>
          <a:p>
            <a:endParaRPr lang="en-US"/>
          </a:p>
        </p:txBody>
      </p:sp>
      <p:sp>
        <p:nvSpPr>
          <p:cNvPr id="17424" name="Text 17424"/>
          <p:cNvSpPr txBox="1"/>
          <p:nvPr/>
        </p:nvSpPr>
        <p:spPr>
          <a:xfrm>
            <a:off x="6922008" y="4014215"/>
            <a:ext cx="4974336" cy="685800"/>
          </a:xfrm>
          <a:prstGeom prst="rect">
            <a:avLst/>
          </a:prstGeom>
          <a:noFill/>
          <a:ln/>
        </p:spPr>
        <p:txBody>
          <a:bodyPr wrap="square" lIns="50800" tIns="76200" rIns="762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b="1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Mitigation : </a:t>
            </a: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</a:rPr>
              <a:t>INT8 quantization (4x smaller) + NNAPI delegation to NPU/DSP instead of CPU.</a:t>
            </a:r>
          </a:p>
        </p:txBody>
      </p:sp>
      <p:sp>
        <p:nvSpPr>
          <p:cNvPr id="17425" name="Flowchart: Process 17425"/>
          <p:cNvSpPr/>
          <p:nvPr/>
        </p:nvSpPr>
        <p:spPr>
          <a:xfrm>
            <a:off x="274320" y="4791456"/>
            <a:ext cx="2011680" cy="640080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en-US" sz="1100" b="1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Phone Placement</a:t>
            </a:r>
          </a:p>
        </p:txBody>
      </p:sp>
      <p:sp>
        <p:nvSpPr>
          <p:cNvPr id="17426" name="Shape 17426"/>
          <p:cNvSpPr/>
          <p:nvPr/>
        </p:nvSpPr>
        <p:spPr>
          <a:xfrm>
            <a:off x="2377440" y="4791456"/>
            <a:ext cx="4160520" cy="640080"/>
          </a:xfrm>
          <a:prstGeom prst="roundRect">
            <a:avLst>
              <a:gd name="adj" fmla="val 5161"/>
            </a:avLst>
          </a:prstGeom>
          <a:solidFill>
            <a:srgbClr val="F5F9FC"/>
          </a:solidFill>
          <a:ln w="12700">
            <a:solidFill>
              <a:srgbClr val="C9D3DC"/>
            </a:solidFill>
            <a:prstDash val="solid"/>
          </a:ln>
        </p:spPr>
        <p:txBody>
          <a:bodyPr wrap="square" lIns="91440" tIns="27432" rIns="91440" bIns="27432" rtlCol="0" anchor="ctr"/>
          <a:lstStyle/>
          <a:p>
            <a:endParaRPr lang="en-US"/>
          </a:p>
        </p:txBody>
      </p:sp>
      <p:sp>
        <p:nvSpPr>
          <p:cNvPr id="17427" name="Text 17427"/>
          <p:cNvSpPr txBox="1"/>
          <p:nvPr/>
        </p:nvSpPr>
        <p:spPr>
          <a:xfrm>
            <a:off x="2395728" y="4764024"/>
            <a:ext cx="4114800" cy="685800"/>
          </a:xfrm>
          <a:prstGeom prst="rect">
            <a:avLst/>
          </a:prstGeom>
          <a:noFill/>
          <a:ln/>
        </p:spPr>
        <p:txBody>
          <a:bodyPr wrap="square" lIns="50800" tIns="76200" rIns="762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Challenge : </a:t>
            </a: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</a:rPr>
              <a:t>Phone may sit upside down, on a vibrating handle, or be knocked sideways.</a:t>
            </a:r>
          </a:p>
        </p:txBody>
      </p:sp>
      <p:sp>
        <p:nvSpPr>
          <p:cNvPr id="17428" name="Arrow 17428"/>
          <p:cNvSpPr/>
          <p:nvPr/>
        </p:nvSpPr>
        <p:spPr>
          <a:xfrm>
            <a:off x="6583680" y="4992624"/>
            <a:ext cx="274320" cy="23774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txBody>
          <a:bodyPr wrap="square" lIns="91440" tIns="27432" rIns="91440" bIns="27432" rtlCol="0" anchor="ctr"/>
          <a:lstStyle/>
          <a:p>
            <a:endParaRPr lang="en-US"/>
          </a:p>
        </p:txBody>
      </p:sp>
      <p:sp>
        <p:nvSpPr>
          <p:cNvPr id="17429" name="Shape 17429"/>
          <p:cNvSpPr/>
          <p:nvPr/>
        </p:nvSpPr>
        <p:spPr>
          <a:xfrm>
            <a:off x="6903720" y="4791456"/>
            <a:ext cx="5010912" cy="640080"/>
          </a:xfrm>
          <a:prstGeom prst="roundRect">
            <a:avLst>
              <a:gd name="adj" fmla="val 5161"/>
            </a:avLst>
          </a:prstGeom>
          <a:solidFill>
            <a:srgbClr val="F5F9FC"/>
          </a:solidFill>
          <a:ln w="12700">
            <a:solidFill>
              <a:srgbClr val="C9D3DC"/>
            </a:solidFill>
            <a:prstDash val="solid"/>
          </a:ln>
        </p:spPr>
        <p:txBody>
          <a:bodyPr wrap="square" lIns="91440" tIns="27432" rIns="91440" bIns="27432" rtlCol="0" anchor="ctr"/>
          <a:lstStyle/>
          <a:p>
            <a:endParaRPr lang="en-US"/>
          </a:p>
        </p:txBody>
      </p:sp>
      <p:sp>
        <p:nvSpPr>
          <p:cNvPr id="17430" name="Text 17430"/>
          <p:cNvSpPr txBox="1"/>
          <p:nvPr/>
        </p:nvSpPr>
        <p:spPr>
          <a:xfrm>
            <a:off x="6922008" y="4764024"/>
            <a:ext cx="4974336" cy="685800"/>
          </a:xfrm>
          <a:prstGeom prst="rect">
            <a:avLst/>
          </a:prstGeom>
          <a:noFill/>
          <a:ln/>
        </p:spPr>
        <p:txBody>
          <a:bodyPr wrap="square" lIns="50800" tIns="76200" rIns="762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b="1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Mitigation : </a:t>
            </a: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</a:rPr>
              <a:t>Continuous LPF + PCA re-alignment recomputes the rotation matrix with no user input.</a:t>
            </a:r>
          </a:p>
        </p:txBody>
      </p:sp>
      <p:sp>
        <p:nvSpPr>
          <p:cNvPr id="17431" name="Flowchart: Process 17431"/>
          <p:cNvSpPr/>
          <p:nvPr/>
        </p:nvSpPr>
        <p:spPr>
          <a:xfrm>
            <a:off x="274320" y="5541264"/>
            <a:ext cx="2011680" cy="640080"/>
          </a:xfrm>
          <a:prstGeom prst="flowChart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en-US" sz="1100" b="1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Sensor Fragmentation</a:t>
            </a:r>
          </a:p>
        </p:txBody>
      </p:sp>
      <p:sp>
        <p:nvSpPr>
          <p:cNvPr id="17432" name="Shape 17432"/>
          <p:cNvSpPr/>
          <p:nvPr/>
        </p:nvSpPr>
        <p:spPr>
          <a:xfrm>
            <a:off x="2377440" y="5541264"/>
            <a:ext cx="4160520" cy="640080"/>
          </a:xfrm>
          <a:prstGeom prst="roundRect">
            <a:avLst>
              <a:gd name="adj" fmla="val 5161"/>
            </a:avLst>
          </a:prstGeom>
          <a:solidFill>
            <a:srgbClr val="F5F9FC"/>
          </a:solidFill>
          <a:ln w="12700">
            <a:solidFill>
              <a:srgbClr val="C9D3DC"/>
            </a:solidFill>
            <a:prstDash val="solid"/>
          </a:ln>
        </p:spPr>
        <p:txBody>
          <a:bodyPr wrap="square" lIns="91440" tIns="27432" rIns="91440" bIns="27432" rtlCol="0" anchor="ctr"/>
          <a:lstStyle/>
          <a:p>
            <a:endParaRPr lang="en-US"/>
          </a:p>
        </p:txBody>
      </p:sp>
      <p:sp>
        <p:nvSpPr>
          <p:cNvPr id="17433" name="Text 17433"/>
          <p:cNvSpPr txBox="1"/>
          <p:nvPr/>
        </p:nvSpPr>
        <p:spPr>
          <a:xfrm>
            <a:off x="2395728" y="5513831"/>
            <a:ext cx="4114800" cy="685800"/>
          </a:xfrm>
          <a:prstGeom prst="rect">
            <a:avLst/>
          </a:prstGeom>
          <a:noFill/>
          <a:ln/>
        </p:spPr>
        <p:txBody>
          <a:bodyPr wrap="square" lIns="50800" tIns="76200" rIns="762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Challenge : </a:t>
            </a: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</a:rPr>
              <a:t>Bosch, TDK &amp; ST IMUs have different noise profiles; a fixed algorithm fails.</a:t>
            </a:r>
          </a:p>
        </p:txBody>
      </p:sp>
      <p:sp>
        <p:nvSpPr>
          <p:cNvPr id="17434" name="Arrow 17434"/>
          <p:cNvSpPr/>
          <p:nvPr/>
        </p:nvSpPr>
        <p:spPr>
          <a:xfrm>
            <a:off x="6583680" y="5742431"/>
            <a:ext cx="274320" cy="23774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txBody>
          <a:bodyPr wrap="square" lIns="91440" tIns="27432" rIns="91440" bIns="27432" rtlCol="0" anchor="ctr"/>
          <a:lstStyle/>
          <a:p>
            <a:endParaRPr lang="en-US"/>
          </a:p>
        </p:txBody>
      </p:sp>
      <p:sp>
        <p:nvSpPr>
          <p:cNvPr id="17435" name="Shape 17435"/>
          <p:cNvSpPr/>
          <p:nvPr/>
        </p:nvSpPr>
        <p:spPr>
          <a:xfrm>
            <a:off x="6903720" y="5541264"/>
            <a:ext cx="5010912" cy="640080"/>
          </a:xfrm>
          <a:prstGeom prst="roundRect">
            <a:avLst>
              <a:gd name="adj" fmla="val 5161"/>
            </a:avLst>
          </a:prstGeom>
          <a:solidFill>
            <a:srgbClr val="F5F9FC"/>
          </a:solidFill>
          <a:ln w="12700">
            <a:solidFill>
              <a:srgbClr val="C9D3DC"/>
            </a:solidFill>
            <a:prstDash val="solid"/>
          </a:ln>
        </p:spPr>
        <p:txBody>
          <a:bodyPr wrap="square" lIns="91440" tIns="27432" rIns="91440" bIns="27432" rtlCol="0" anchor="ctr"/>
          <a:lstStyle/>
          <a:p>
            <a:endParaRPr lang="en-US"/>
          </a:p>
        </p:txBody>
      </p:sp>
      <p:sp>
        <p:nvSpPr>
          <p:cNvPr id="17436" name="Text 17436"/>
          <p:cNvSpPr txBox="1"/>
          <p:nvPr/>
        </p:nvSpPr>
        <p:spPr>
          <a:xfrm>
            <a:off x="6922008" y="5513831"/>
            <a:ext cx="4974336" cy="685800"/>
          </a:xfrm>
          <a:prstGeom prst="rect">
            <a:avLst/>
          </a:prstGeom>
          <a:noFill/>
          <a:ln/>
        </p:spPr>
        <p:txBody>
          <a:bodyPr wrap="square" lIns="50800" tIns="76200" rIns="762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b="1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Mitigation : </a:t>
            </a: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</a:rPr>
              <a:t>ESKF learns each phone's zero-g bias from GNSS and subtracts it during blackout.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8FB739-D056-8A4F-DCBA-2A61E2856B2D}"/>
              </a:ext>
            </a:extLst>
          </p:cNvPr>
          <p:cNvSpPr txBox="1"/>
          <p:nvPr/>
        </p:nvSpPr>
        <p:spPr>
          <a:xfrm>
            <a:off x="189239" y="298080"/>
            <a:ext cx="2008677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@</a:t>
            </a:r>
            <a:r>
              <a:rPr lang="en-US" sz="2800" b="1" i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Enigm</a:t>
            </a:r>
            <a:endParaRPr lang="en-US" sz="2800" b="1" i="1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fornian FB" panose="0207040306080B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0D9B29-3387-8A97-8815-8C0E80D730BE}"/>
              </a:ext>
            </a:extLst>
          </p:cNvPr>
          <p:cNvSpPr txBox="1"/>
          <p:nvPr/>
        </p:nvSpPr>
        <p:spPr>
          <a:xfrm>
            <a:off x="1581301" y="357887"/>
            <a:ext cx="463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fornian FB" panose="0207040306080B030204" pitchFamily="18" charset="0"/>
              </a:rPr>
              <a:t>@</a:t>
            </a:r>
            <a:endParaRPr lang="en-US" sz="3200" i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912A701-03C1-9625-C723-1B47FE798177}"/>
              </a:ext>
            </a:extLst>
          </p:cNvPr>
          <p:cNvSpPr txBox="1">
            <a:spLocks/>
          </p:cNvSpPr>
          <p:nvPr/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pPr>
                <a:defRPr/>
              </a:pPr>
              <a:t>5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9F0BDC97-4DFE-9FAF-A775-28FA9AC5EC30}"/>
              </a:ext>
            </a:extLst>
          </p:cNvPr>
          <p:cNvSpPr txBox="1">
            <a:spLocks/>
          </p:cNvSpPr>
          <p:nvPr/>
        </p:nvSpPr>
        <p:spPr>
          <a:xfrm>
            <a:off x="4648200" y="6356353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@SIH Idea submission- Template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B7630E-A5E3-F4B3-7DE0-A1E7EF02E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99365"/>
            <a:ext cx="12191999" cy="45863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267C66-E60A-0536-81CA-0FEBACCF795D}"/>
              </a:ext>
            </a:extLst>
          </p:cNvPr>
          <p:cNvSpPr txBox="1"/>
          <p:nvPr/>
        </p:nvSpPr>
        <p:spPr>
          <a:xfrm>
            <a:off x="4345106" y="6404519"/>
            <a:ext cx="2008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@</a:t>
            </a:r>
            <a:r>
              <a:rPr lang="en-US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Enigm</a:t>
            </a:r>
            <a:endParaRPr lang="en-US" sz="28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fornian FB" panose="0207040306080B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110FE5-B012-65F3-AA15-FD7D5A4F233E}"/>
              </a:ext>
            </a:extLst>
          </p:cNvPr>
          <p:cNvSpPr txBox="1"/>
          <p:nvPr/>
        </p:nvSpPr>
        <p:spPr>
          <a:xfrm>
            <a:off x="5696610" y="6404519"/>
            <a:ext cx="463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fornian FB" panose="0207040306080B030204" pitchFamily="18" charset="0"/>
              </a:rPr>
              <a:t>@</a:t>
            </a:r>
            <a:endParaRPr lang="en-US" sz="32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412" name="Text 17412"/>
          <p:cNvSpPr txBox="1"/>
          <p:nvPr/>
        </p:nvSpPr>
        <p:spPr>
          <a:xfrm>
            <a:off x="274320" y="1143000"/>
            <a:ext cx="6126480" cy="31089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lIns="91440" tIns="1524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IMPACT ON TARGET AUDIENCE &amp; ECOSYSTEM</a:t>
            </a:r>
          </a:p>
        </p:txBody>
      </p:sp>
      <p:sp>
        <p:nvSpPr>
          <p:cNvPr id="17413" name="Shape 17413"/>
          <p:cNvSpPr/>
          <p:nvPr/>
        </p:nvSpPr>
        <p:spPr>
          <a:xfrm>
            <a:off x="274320" y="1508760"/>
            <a:ext cx="6126480" cy="2286000"/>
          </a:xfrm>
          <a:prstGeom prst="roundRect">
            <a:avLst>
              <a:gd name="adj" fmla="val 5161"/>
            </a:avLst>
          </a:prstGeom>
          <a:solidFill>
            <a:srgbClr val="F5F9FC"/>
          </a:solidFill>
          <a:ln w="12700">
            <a:solidFill>
              <a:srgbClr val="C9D3DC"/>
            </a:solidFill>
            <a:prstDash val="solid"/>
          </a:ln>
        </p:spPr>
        <p:txBody>
          <a:bodyPr wrap="square" lIns="91440" tIns="27432" rIns="91440" bIns="27432" rtlCol="0" anchor="ctr"/>
          <a:lstStyle/>
          <a:p>
            <a:endParaRPr lang="en-US"/>
          </a:p>
        </p:txBody>
      </p:sp>
      <p:sp>
        <p:nvSpPr>
          <p:cNvPr id="17414" name="Text 17414"/>
          <p:cNvSpPr txBox="1"/>
          <p:nvPr/>
        </p:nvSpPr>
        <p:spPr>
          <a:xfrm>
            <a:off x="301752" y="1536192"/>
            <a:ext cx="6080760" cy="2240280"/>
          </a:xfrm>
          <a:prstGeom prst="rect">
            <a:avLst/>
          </a:prstGeom>
          <a:noFill/>
          <a:ln/>
        </p:spPr>
        <p:txBody>
          <a:bodyPr wrap="square" lIns="50800" tIns="76200" rIns="762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Economic &amp; Logistics : </a:t>
            </a:r>
            <a:r>
              <a:rPr lang="en-US" sz="1300">
                <a:solidFill>
                  <a:srgbClr val="222222"/>
                </a:solidFill>
                <a:latin typeface="Arial"/>
                <a:ea typeface="Arial"/>
                <a:cs typeface="Arial"/>
              </a:rPr>
              <a:t>Gig drivers lose time and fuel to missed exits in underpasses and parking lots. Lane-level tracking avoids re-routing and improves ETAs.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Safety : </a:t>
            </a:r>
            <a:r>
              <a:rPr lang="en-US" sz="1300">
                <a:solidFill>
                  <a:srgbClr val="222222"/>
                </a:solidFill>
                <a:latin typeface="Arial"/>
                <a:ea typeface="Arial"/>
                <a:cs typeface="Arial"/>
              </a:rPr>
              <a:t>No more frozen or jumping maps after a signal loss, so less sudden braking, illegal U-turns and distraction.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Social &amp; Digital Scale : </a:t>
            </a:r>
            <a:r>
              <a:rPr lang="en-US" sz="1300">
                <a:solidFill>
                  <a:srgbClr val="222222"/>
                </a:solidFill>
                <a:latin typeface="Arial"/>
                <a:ea typeface="Arial"/>
                <a:cs typeface="Arial"/>
              </a:rPr>
              <a:t>Brings luxury-car dead reckoning to 2-wheelers, autos and older trucks at zero hardware cost.</a:t>
            </a:r>
          </a:p>
        </p:txBody>
      </p:sp>
      <p:graphicFrame>
        <p:nvGraphicFramePr>
          <p:cNvPr id="17415" name="Table 174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143597"/>
              </p:ext>
            </p:extLst>
          </p:nvPr>
        </p:nvGraphicFramePr>
        <p:xfrm>
          <a:off x="6629400" y="1143000"/>
          <a:ext cx="5266944" cy="26506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79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9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7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30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6153"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solidFill>
                            <a:srgbClr val="FFFFFF"/>
                          </a:solidFill>
                          <a:latin typeface="Arial"/>
                        </a:rPr>
                        <a:t>Feature</a:t>
                      </a:r>
                    </a:p>
                  </a:txBody>
                  <a:tcPr marL="45720" marR="45720" marT="18288" marB="18288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FFFFFF"/>
                          </a:solidFill>
                          <a:latin typeface="Arial"/>
                        </a:rPr>
                        <a:t>Googl</a:t>
                      </a:r>
                      <a:r>
                        <a:rPr lang="en-US" sz="1400" b="0" dirty="0">
                          <a:solidFill>
                            <a:srgbClr val="FFFFFF"/>
                          </a:solidFill>
                          <a:latin typeface="Arial"/>
                        </a:rPr>
                        <a:t>e </a:t>
                      </a:r>
                      <a:r>
                        <a:rPr sz="1400" b="0" dirty="0">
                          <a:solidFill>
                            <a:srgbClr val="FFFFFF"/>
                          </a:solidFill>
                          <a:latin typeface="Arial"/>
                        </a:rPr>
                        <a:t>Maps</a:t>
                      </a:r>
                    </a:p>
                  </a:txBody>
                  <a:tcPr marL="45720" marR="45720" marT="18288" marB="18288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FFFFFF"/>
                          </a:solidFill>
                          <a:latin typeface="Arial"/>
                        </a:rPr>
                        <a:t>Hardware INS</a:t>
                      </a:r>
                    </a:p>
                  </a:txBody>
                  <a:tcPr marL="45720" marR="45720" marT="18288" marB="18288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FFFFFF"/>
                          </a:solidFill>
                          <a:latin typeface="Arial"/>
                        </a:rPr>
                        <a:t>NaviCore</a:t>
                      </a:r>
                      <a:r>
                        <a:rPr sz="1400" b="0" dirty="0">
                          <a:solidFill>
                            <a:srgbClr val="FFFFFF"/>
                          </a:solidFill>
                          <a:latin typeface="Arial"/>
                        </a:rPr>
                        <a:t> AI</a:t>
                      </a:r>
                    </a:p>
                  </a:txBody>
                  <a:tcPr marL="45720" marR="45720" marT="18288" marB="18288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553"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222222"/>
                          </a:solidFill>
                          <a:latin typeface="Arial"/>
                        </a:rPr>
                        <a:t>Tracks in tunnels</a:t>
                      </a:r>
                    </a:p>
                  </a:txBody>
                  <a:tcPr marL="45720" marR="45720" marT="18288" marB="1828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22222"/>
                          </a:solidFill>
                          <a:latin typeface="Arial"/>
                        </a:rPr>
                        <a:t>No (freezes)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943634"/>
                          </a:solidFill>
                          <a:latin typeface="Arial"/>
                        </a:rPr>
                        <a:t>Yes, seamless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553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Hardware needed</a:t>
                      </a:r>
                    </a:p>
                  </a:txBody>
                  <a:tcPr marL="45720" marR="45720" marT="18288" marB="1828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Smartphone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OBD-II / wheel sensors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943634"/>
                          </a:solidFill>
                          <a:latin typeface="Arial"/>
                        </a:rPr>
                        <a:t>Smartphone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553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AI pothole/noise filter</a:t>
                      </a:r>
                    </a:p>
                  </a:txBody>
                  <a:tcPr marL="45720" marR="45720" marT="18288" marB="1828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943634"/>
                          </a:solidFill>
                          <a:latin typeface="Arial"/>
                        </a:rPr>
                        <a:t>Yes (1D-CNN)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553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Drift freeze in traffic</a:t>
                      </a:r>
                    </a:p>
                  </a:txBody>
                  <a:tcPr marL="45720" marR="45720" marT="18288" marB="1828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943634"/>
                          </a:solidFill>
                          <a:latin typeface="Arial"/>
                        </a:rPr>
                        <a:t>Yes (ZUPT)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553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Any mounting angle</a:t>
                      </a:r>
                    </a:p>
                  </a:txBody>
                  <a:tcPr marL="45720" marR="45720" marT="18288" marB="1828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No, fixed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943634"/>
                          </a:solidFill>
                          <a:latin typeface="Arial"/>
                        </a:rPr>
                        <a:t>Yes (PCA)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553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Cost</a:t>
                      </a:r>
                    </a:p>
                  </a:txBody>
                  <a:tcPr marL="45720" marR="45720" marT="18288" marB="1828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222222"/>
                          </a:solidFill>
                          <a:latin typeface="Arial"/>
                        </a:rPr>
                        <a:t>Free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₹20,000 – ₹1,00,000+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943634"/>
                          </a:solidFill>
                          <a:latin typeface="Arial"/>
                        </a:rPr>
                        <a:t>Free, software only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Shape 17415"/>
          <p:cNvSpPr/>
          <p:nvPr/>
        </p:nvSpPr>
        <p:spPr>
          <a:xfrm>
            <a:off x="274320" y="3889975"/>
            <a:ext cx="11622023" cy="453094"/>
          </a:xfrm>
          <a:prstGeom prst="roundRect">
            <a:avLst>
              <a:gd name="adj" fmla="val 0"/>
            </a:avLst>
          </a:prstGeom>
          <a:solidFill>
            <a:srgbClr val="1F497D"/>
          </a:solidFill>
          <a:ln/>
        </p:spPr>
        <p:txBody>
          <a:bodyPr wrap="square" lIns="182880" tIns="0" rIns="91440" bIns="0" rtlCol="0" anchor="ctr"/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									HOW NAVICORE WORKS</a:t>
            </a:r>
            <a:endParaRPr lang="en-US" sz="14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16" name="Shape 17416"/>
          <p:cNvSpPr/>
          <p:nvPr/>
        </p:nvSpPr>
        <p:spPr>
          <a:xfrm>
            <a:off x="274320" y="4416552"/>
            <a:ext cx="3749039" cy="329184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/>
        </p:spPr>
        <p:txBody>
          <a:bodyPr wrap="square" lIns="182880" tIns="0" rIns="91440" bIns="0" rtlCol="0" anchor="ctr"/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 1: OPEN-SKY FUSION</a:t>
            </a:r>
          </a:p>
        </p:txBody>
      </p:sp>
      <p:sp>
        <p:nvSpPr>
          <p:cNvPr id="17417" name="Shape 17417"/>
          <p:cNvSpPr/>
          <p:nvPr/>
        </p:nvSpPr>
        <p:spPr>
          <a:xfrm>
            <a:off x="274320" y="4800600"/>
            <a:ext cx="3749039" cy="1508760"/>
          </a:xfrm>
          <a:prstGeom prst="roundRect">
            <a:avLst>
              <a:gd name="adj" fmla="val 5161"/>
            </a:avLst>
          </a:prstGeom>
          <a:solidFill>
            <a:srgbClr val="F5F9FC"/>
          </a:solidFill>
          <a:ln w="12700">
            <a:solidFill>
              <a:srgbClr val="C9D3DC"/>
            </a:solidFill>
            <a:prstDash val="solid"/>
          </a:ln>
        </p:spPr>
        <p:txBody>
          <a:bodyPr wrap="square" lIns="91440" tIns="27432" rIns="91440" bIns="27432" rtlCol="0" anchor="ctr"/>
          <a:lstStyle/>
          <a:p>
            <a:endParaRPr lang="en-US"/>
          </a:p>
        </p:txBody>
      </p:sp>
      <p:sp>
        <p:nvSpPr>
          <p:cNvPr id="17418" name="Text 17418"/>
          <p:cNvSpPr txBox="1"/>
          <p:nvPr/>
        </p:nvSpPr>
        <p:spPr>
          <a:xfrm>
            <a:off x="292608" y="4828032"/>
            <a:ext cx="3712463" cy="1463040"/>
          </a:xfrm>
          <a:prstGeom prst="rect">
            <a:avLst/>
          </a:prstGeom>
          <a:noFill/>
          <a:ln/>
        </p:spPr>
        <p:txBody>
          <a:bodyPr wrap="square" lIns="50800" tIns="76200" rIns="762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Scenario : </a:t>
            </a:r>
            <a:r>
              <a:rPr lang="en-US" sz="1150">
                <a:solidFill>
                  <a:srgbClr val="222222"/>
                </a:solidFill>
                <a:latin typeface="Arial"/>
                <a:ea typeface="Arial"/>
                <a:cs typeface="Arial"/>
              </a:rPr>
              <a:t>Clear sky, strong GNSS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Action : </a:t>
            </a:r>
            <a:r>
              <a:rPr lang="en-US" sz="1150">
                <a:solidFill>
                  <a:srgbClr val="222222"/>
                </a:solidFill>
                <a:latin typeface="Arial"/>
                <a:ea typeface="Arial"/>
                <a:cs typeface="Arial"/>
              </a:rPr>
              <a:t>AI sleeps to save NPU power; ESKF learns the phone's zero-g bias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Output : </a:t>
            </a:r>
            <a:r>
              <a:rPr lang="en-US" sz="1150">
                <a:solidFill>
                  <a:srgbClr val="222222"/>
                </a:solidFill>
                <a:latin typeface="Arial"/>
                <a:ea typeface="Arial"/>
                <a:cs typeface="Arial"/>
              </a:rPr>
              <a:t>Accurate position at 10 Hz</a:t>
            </a:r>
          </a:p>
        </p:txBody>
      </p:sp>
      <p:sp>
        <p:nvSpPr>
          <p:cNvPr id="17419" name="Shape 17419"/>
          <p:cNvSpPr/>
          <p:nvPr/>
        </p:nvSpPr>
        <p:spPr>
          <a:xfrm>
            <a:off x="4219956" y="4416552"/>
            <a:ext cx="3749039" cy="329184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/>
        </p:spPr>
        <p:txBody>
          <a:bodyPr wrap="square" lIns="182880" tIns="0" rIns="91440" bIns="0" rtlCol="0" anchor="ctr"/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 2: AI DEAD RECKONING</a:t>
            </a:r>
          </a:p>
        </p:txBody>
      </p:sp>
      <p:sp>
        <p:nvSpPr>
          <p:cNvPr id="17420" name="Shape 17420"/>
          <p:cNvSpPr/>
          <p:nvPr/>
        </p:nvSpPr>
        <p:spPr>
          <a:xfrm>
            <a:off x="4219956" y="4800600"/>
            <a:ext cx="3749039" cy="1508760"/>
          </a:xfrm>
          <a:prstGeom prst="roundRect">
            <a:avLst>
              <a:gd name="adj" fmla="val 5161"/>
            </a:avLst>
          </a:prstGeom>
          <a:solidFill>
            <a:srgbClr val="F5F9FC"/>
          </a:solidFill>
          <a:ln w="12700">
            <a:solidFill>
              <a:srgbClr val="C9D3DC"/>
            </a:solidFill>
            <a:prstDash val="solid"/>
          </a:ln>
        </p:spPr>
        <p:txBody>
          <a:bodyPr wrap="square" lIns="91440" tIns="27432" rIns="91440" bIns="27432" rtlCol="0" anchor="ctr"/>
          <a:lstStyle/>
          <a:p>
            <a:endParaRPr lang="en-US"/>
          </a:p>
        </p:txBody>
      </p:sp>
      <p:sp>
        <p:nvSpPr>
          <p:cNvPr id="17421" name="Text 17421"/>
          <p:cNvSpPr txBox="1"/>
          <p:nvPr/>
        </p:nvSpPr>
        <p:spPr>
          <a:xfrm>
            <a:off x="4238244" y="4828032"/>
            <a:ext cx="3712463" cy="1463040"/>
          </a:xfrm>
          <a:prstGeom prst="rect">
            <a:avLst/>
          </a:prstGeom>
          <a:noFill/>
          <a:ln/>
        </p:spPr>
        <p:txBody>
          <a:bodyPr wrap="square" lIns="50800" tIns="76200" rIns="762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b="1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Scenario : </a:t>
            </a:r>
            <a:r>
              <a:rPr lang="en-US" sz="1150">
                <a:solidFill>
                  <a:srgbClr val="222222"/>
                </a:solidFill>
                <a:latin typeface="Arial"/>
                <a:ea typeface="Arial"/>
                <a:cs typeface="Arial"/>
              </a:rPr>
              <a:t>Tunnel, basement or dense forest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b="1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Action : </a:t>
            </a:r>
            <a:r>
              <a:rPr lang="en-US" sz="1150">
                <a:solidFill>
                  <a:srgbClr val="222222"/>
                </a:solidFill>
                <a:latin typeface="Arial"/>
                <a:ea typeface="Arial"/>
                <a:cs typeface="Arial"/>
              </a:rPr>
              <a:t>Switch in &lt;10 ms; 1D-CNN speed + ZUPT for traffic jams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b="1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Output : </a:t>
            </a:r>
            <a:r>
              <a:rPr lang="en-US" sz="1150">
                <a:solidFill>
                  <a:srgbClr val="222222"/>
                </a:solidFill>
                <a:latin typeface="Arial"/>
                <a:ea typeface="Arial"/>
                <a:cs typeface="Arial"/>
              </a:rPr>
              <a:t>Drift below 10% (&lt;5 m over 50 m)</a:t>
            </a:r>
          </a:p>
        </p:txBody>
      </p:sp>
      <p:sp>
        <p:nvSpPr>
          <p:cNvPr id="17422" name="Shape 17422"/>
          <p:cNvSpPr/>
          <p:nvPr/>
        </p:nvSpPr>
        <p:spPr>
          <a:xfrm>
            <a:off x="8165592" y="4416552"/>
            <a:ext cx="3749039" cy="329184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/>
        </p:spPr>
        <p:txBody>
          <a:bodyPr wrap="square" lIns="182880" tIns="0" rIns="91440" bIns="0" rtlCol="0" anchor="ctr"/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 3: ENTERPRISE EDGE</a:t>
            </a:r>
          </a:p>
        </p:txBody>
      </p:sp>
      <p:sp>
        <p:nvSpPr>
          <p:cNvPr id="17423" name="Shape 17423"/>
          <p:cNvSpPr/>
          <p:nvPr/>
        </p:nvSpPr>
        <p:spPr>
          <a:xfrm>
            <a:off x="8165592" y="4800600"/>
            <a:ext cx="3749039" cy="1508760"/>
          </a:xfrm>
          <a:prstGeom prst="roundRect">
            <a:avLst>
              <a:gd name="adj" fmla="val 5161"/>
            </a:avLst>
          </a:prstGeom>
          <a:solidFill>
            <a:srgbClr val="F5F9FC"/>
          </a:solidFill>
          <a:ln w="12700">
            <a:solidFill>
              <a:srgbClr val="C9D3DC"/>
            </a:solidFill>
            <a:prstDash val="solid"/>
          </a:ln>
        </p:spPr>
        <p:txBody>
          <a:bodyPr wrap="square" lIns="91440" tIns="27432" rIns="91440" bIns="27432" rtlCol="0" anchor="ctr"/>
          <a:lstStyle/>
          <a:p>
            <a:endParaRPr lang="en-US"/>
          </a:p>
        </p:txBody>
      </p:sp>
      <p:sp>
        <p:nvSpPr>
          <p:cNvPr id="17424" name="Text 17424"/>
          <p:cNvSpPr txBox="1"/>
          <p:nvPr/>
        </p:nvSpPr>
        <p:spPr>
          <a:xfrm>
            <a:off x="8183880" y="4828032"/>
            <a:ext cx="3712463" cy="1463040"/>
          </a:xfrm>
          <a:prstGeom prst="rect">
            <a:avLst/>
          </a:prstGeom>
          <a:noFill/>
          <a:ln/>
        </p:spPr>
        <p:txBody>
          <a:bodyPr wrap="square" lIns="50800" tIns="76200" rIns="762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Scenario : </a:t>
            </a:r>
            <a:r>
              <a:rPr lang="en-US" sz="1150">
                <a:solidFill>
                  <a:srgbClr val="222222"/>
                </a:solidFill>
                <a:latin typeface="Arial"/>
                <a:ea typeface="Arial"/>
                <a:cs typeface="Arial"/>
              </a:rPr>
              <a:t>Autonomous / military logistics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Action : </a:t>
            </a:r>
            <a:r>
              <a:rPr lang="en-US" sz="1150">
                <a:solidFill>
                  <a:srgbClr val="222222"/>
                </a:solidFill>
                <a:latin typeface="Arial"/>
                <a:ea typeface="Arial"/>
                <a:cs typeface="Arial"/>
              </a:rPr>
              <a:t>C++ core on ROS2 with 200 Hz FOG IMU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Output : </a:t>
            </a:r>
            <a:r>
              <a:rPr lang="en-US" sz="1150">
                <a:solidFill>
                  <a:srgbClr val="222222"/>
                </a:solidFill>
                <a:latin typeface="Arial"/>
                <a:ea typeface="Arial"/>
                <a:cs typeface="Arial"/>
              </a:rPr>
              <a:t>Modular engine beyond smartphones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D7DAC0-6317-EF12-6D9A-7E21F55F44C9}"/>
              </a:ext>
            </a:extLst>
          </p:cNvPr>
          <p:cNvSpPr txBox="1"/>
          <p:nvPr/>
        </p:nvSpPr>
        <p:spPr>
          <a:xfrm>
            <a:off x="195620" y="278622"/>
            <a:ext cx="2008677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@</a:t>
            </a:r>
            <a:r>
              <a:rPr lang="en-US" sz="2800" b="1" i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Enigm</a:t>
            </a:r>
            <a:endParaRPr lang="en-US" sz="2800" b="1" i="1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fornian FB" panose="0207040306080B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36682B-6D41-361C-92EE-65803AC99584}"/>
              </a:ext>
            </a:extLst>
          </p:cNvPr>
          <p:cNvSpPr txBox="1"/>
          <p:nvPr/>
        </p:nvSpPr>
        <p:spPr>
          <a:xfrm>
            <a:off x="1598079" y="357887"/>
            <a:ext cx="463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fornian FB" panose="0207040306080B030204" pitchFamily="18" charset="0"/>
              </a:rPr>
              <a:t>@</a:t>
            </a:r>
            <a:endParaRPr lang="en-US" sz="3200" i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410" name="Panel 17410"/>
          <p:cNvSpPr/>
          <p:nvPr/>
        </p:nvSpPr>
        <p:spPr>
          <a:xfrm>
            <a:off x="192024" y="1051560"/>
            <a:ext cx="11823192" cy="1874519"/>
          </a:xfrm>
          <a:prstGeom prst="roundRect">
            <a:avLst>
              <a:gd name="adj" fmla="val 5161"/>
            </a:avLst>
          </a:prstGeom>
          <a:solidFill>
            <a:srgbClr val="F5F9FC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7411" name="Panel 17411"/>
          <p:cNvSpPr/>
          <p:nvPr/>
        </p:nvSpPr>
        <p:spPr>
          <a:xfrm>
            <a:off x="192024" y="3456432"/>
            <a:ext cx="5477256" cy="1545336"/>
          </a:xfrm>
          <a:prstGeom prst="roundRect">
            <a:avLst>
              <a:gd name="adj" fmla="val 5161"/>
            </a:avLst>
          </a:prstGeom>
          <a:solidFill>
            <a:srgbClr val="F5F9FC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7412" name="Panel 17412"/>
          <p:cNvSpPr/>
          <p:nvPr/>
        </p:nvSpPr>
        <p:spPr>
          <a:xfrm>
            <a:off x="6537960" y="3456432"/>
            <a:ext cx="5477256" cy="1545336"/>
          </a:xfrm>
          <a:prstGeom prst="roundRect">
            <a:avLst>
              <a:gd name="adj" fmla="val 5161"/>
            </a:avLst>
          </a:prstGeom>
          <a:solidFill>
            <a:srgbClr val="F5F9FC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7413" name="Panel 17413"/>
          <p:cNvSpPr/>
          <p:nvPr/>
        </p:nvSpPr>
        <p:spPr>
          <a:xfrm>
            <a:off x="274320" y="5504688"/>
            <a:ext cx="11759184" cy="822960"/>
          </a:xfrm>
          <a:prstGeom prst="roundRect">
            <a:avLst>
              <a:gd name="adj" fmla="val 5161"/>
            </a:avLst>
          </a:prstGeom>
          <a:solidFill>
            <a:srgbClr val="F5F9FC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A6B4C6F6-E0B7-2EFF-790B-1F69869A1A7E}"/>
              </a:ext>
            </a:extLst>
          </p:cNvPr>
          <p:cNvSpPr txBox="1"/>
          <p:nvPr/>
        </p:nvSpPr>
        <p:spPr>
          <a:xfrm>
            <a:off x="320040" y="1076726"/>
            <a:ext cx="11567160" cy="1849137"/>
          </a:xfrm>
          <a:prstGeom prst="rect">
            <a:avLst/>
          </a:prstGeom>
          <a:noFill/>
          <a:ln/>
        </p:spPr>
        <p:txBody>
          <a:bodyPr wrap="square" lIns="50800" tIns="101600" rIns="101600" bIns="254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AI-IMU Dead-Reckoning : 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Brossard et al. (IEEE T-RO): AI predicts sensor noise better than full trajectories, the basis for decoupling AI from the physics engine.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RoNIN : 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neural inertial navigation: 1D-CNNs on continuous 6-DOF IMU time series.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NHC Kinematics : 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non-holonomic constraint model for four-wheeled ground vehicles.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IO-VNBD Dataset : 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Time-synced smartphone IMU (input) + vehicle CAN-bus odometry (ground truth), so no RTK-GPS collection needed.</a:t>
            </a:r>
            <a:endParaRPr lang="en-US" sz="1600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1AB41BFD-8E6A-BD81-E6E2-116EC019EB2C}"/>
              </a:ext>
            </a:extLst>
          </p:cNvPr>
          <p:cNvSpPr/>
          <p:nvPr/>
        </p:nvSpPr>
        <p:spPr>
          <a:xfrm>
            <a:off x="204477" y="2994766"/>
            <a:ext cx="5464803" cy="400111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/>
        </p:spPr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CA171B3B-BC64-DAD6-7DC3-D52676374A23}"/>
              </a:ext>
            </a:extLst>
          </p:cNvPr>
          <p:cNvSpPr txBox="1"/>
          <p:nvPr/>
        </p:nvSpPr>
        <p:spPr>
          <a:xfrm>
            <a:off x="189239" y="3445778"/>
            <a:ext cx="5303520" cy="1435608"/>
          </a:xfrm>
          <a:prstGeom prst="rect">
            <a:avLst/>
          </a:prstGeom>
          <a:noFill/>
          <a:ln/>
        </p:spPr>
        <p:txBody>
          <a:bodyPr wrap="square" lIns="50800" tIns="101600" rIns="101600" bIns="254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 / MapmyIndia : </a:t>
            </a: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extrapolation fails in jams and curved tunnels; cannot filter phone vibration.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INS : </a:t>
            </a: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but costs thousands of dollars, needs OBD-II, and cannot fit two-wheelers.</a:t>
            </a:r>
            <a:endParaRPr lang="en-US" sz="1500" dirty="0"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1E4E0008-0A00-E4DB-AC2F-3964B3AF8AFE}"/>
              </a:ext>
            </a:extLst>
          </p:cNvPr>
          <p:cNvSpPr/>
          <p:nvPr/>
        </p:nvSpPr>
        <p:spPr>
          <a:xfrm>
            <a:off x="6549629" y="2988578"/>
            <a:ext cx="5464803" cy="398116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/>
        </p:spPr>
        <p:txBody>
          <a:bodyPr/>
          <a:lstStyle/>
          <a:p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F20238AB-607B-3BD7-275C-4846944606A0}"/>
              </a:ext>
            </a:extLst>
          </p:cNvPr>
          <p:cNvSpPr txBox="1"/>
          <p:nvPr/>
        </p:nvSpPr>
        <p:spPr>
          <a:xfrm>
            <a:off x="6646010" y="3381770"/>
            <a:ext cx="5193792" cy="1435608"/>
          </a:xfrm>
          <a:prstGeom prst="rect">
            <a:avLst/>
          </a:prstGeom>
          <a:noFill/>
          <a:ln/>
        </p:spPr>
        <p:txBody>
          <a:bodyPr wrap="square" lIns="50800" tIns="101600" rIns="101600" bIns="254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Software : </a:t>
            </a: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Luxury-grade accuracy on budget phones.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Noise Filtering : </a:t>
            </a: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Separates real motion from potholes and idling.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Zero-Latency + Self-Calibrating : </a:t>
            </a: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C++ Kalman filter; any mounting angle.</a:t>
            </a:r>
            <a:endParaRPr lang="en-US" sz="1500" dirty="0"/>
          </a:p>
        </p:txBody>
      </p:sp>
      <p:sp>
        <p:nvSpPr>
          <p:cNvPr id="40" name="Shape 15">
            <a:extLst>
              <a:ext uri="{FF2B5EF4-FFF2-40B4-BE49-F238E27FC236}">
                <a16:creationId xmlns:a16="http://schemas.microsoft.com/office/drawing/2014/main" id="{7D4684BA-8DA0-8C12-FBCF-BB37DA60E633}"/>
              </a:ext>
            </a:extLst>
          </p:cNvPr>
          <p:cNvSpPr/>
          <p:nvPr/>
        </p:nvSpPr>
        <p:spPr>
          <a:xfrm>
            <a:off x="274320" y="5045978"/>
            <a:ext cx="11755616" cy="426832"/>
          </a:xfrm>
          <a:prstGeom prst="roundRect">
            <a:avLst>
              <a:gd name="adj" fmla="val 0"/>
            </a:avLst>
          </a:prstGeom>
          <a:solidFill>
            <a:srgbClr val="1F497D"/>
          </a:solidFill>
          <a:ln/>
        </p:spPr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B301E508-10D6-C6DB-6E9F-E8287508A951}"/>
              </a:ext>
            </a:extLst>
          </p:cNvPr>
          <p:cNvSpPr txBox="1"/>
          <p:nvPr/>
        </p:nvSpPr>
        <p:spPr>
          <a:xfrm>
            <a:off x="365760" y="5474458"/>
            <a:ext cx="11430000" cy="914400"/>
          </a:xfrm>
          <a:prstGeom prst="rect">
            <a:avLst/>
          </a:prstGeom>
          <a:noFill/>
          <a:ln/>
        </p:spPr>
        <p:txBody>
          <a:bodyPr wrap="square" lIns="50800" tIns="101600" rIns="101600" bIns="254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on IO-VNBD : </a:t>
            </a:r>
            <a:endParaRPr lang="en-US" sz="1400" b="1" dirty="0">
              <a:solidFill>
                <a:srgbClr val="22222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: </a:t>
            </a:r>
            <a:endParaRPr lang="en-US" sz="1400" b="1" dirty="0">
              <a:solidFill>
                <a:srgbClr val="22222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 </a:t>
            </a:r>
            <a:r>
              <a:rPr lang="en-IN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AE0FF28-43B6-8558-0C5B-AAD1305DD996}"/>
              </a:ext>
            </a:extLst>
          </p:cNvPr>
          <p:cNvSpPr txBox="1"/>
          <p:nvPr/>
        </p:nvSpPr>
        <p:spPr>
          <a:xfrm>
            <a:off x="293811" y="2992185"/>
            <a:ext cx="20284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Existing solutions</a:t>
            </a:r>
          </a:p>
          <a:p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625A997-A120-A8C3-B831-2D5A1EE7414F}"/>
              </a:ext>
            </a:extLst>
          </p:cNvPr>
          <p:cNvSpPr txBox="1"/>
          <p:nvPr/>
        </p:nvSpPr>
        <p:spPr>
          <a:xfrm>
            <a:off x="6727501" y="2993460"/>
            <a:ext cx="1531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Our Solution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B287CB8-EF40-7256-DFF3-B303323C5433}"/>
              </a:ext>
            </a:extLst>
          </p:cNvPr>
          <p:cNvSpPr txBox="1"/>
          <p:nvPr/>
        </p:nvSpPr>
        <p:spPr>
          <a:xfrm>
            <a:off x="412708" y="5085905"/>
            <a:ext cx="2504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RESOURCES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70FBF59-69E8-CE19-6215-720C1AE31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99365"/>
            <a:ext cx="12191999" cy="45863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7EF57D9-8993-FD2B-1526-FCABCE218600}"/>
              </a:ext>
            </a:extLst>
          </p:cNvPr>
          <p:cNvSpPr txBox="1"/>
          <p:nvPr/>
        </p:nvSpPr>
        <p:spPr>
          <a:xfrm>
            <a:off x="4345106" y="6404519"/>
            <a:ext cx="2008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@</a:t>
            </a:r>
            <a:r>
              <a:rPr lang="en-US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Enigm</a:t>
            </a:r>
            <a:endParaRPr lang="en-US" sz="28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fornian FB" panose="0207040306080B0302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85D150F-71A8-1977-245A-1BDFF81992E9}"/>
              </a:ext>
            </a:extLst>
          </p:cNvPr>
          <p:cNvSpPr txBox="1"/>
          <p:nvPr/>
        </p:nvSpPr>
        <p:spPr>
          <a:xfrm>
            <a:off x="5696610" y="6404519"/>
            <a:ext cx="463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fornian FB" panose="0207040306080B030204" pitchFamily="18" charset="0"/>
              </a:rPr>
              <a:t>@</a:t>
            </a:r>
            <a:endParaRPr lang="en-US" sz="32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7714</TotalTime>
  <Words>1260</Words>
  <Application>Microsoft Office PowerPoint</Application>
  <PresentationFormat>Widescreen</PresentationFormat>
  <Paragraphs>194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ＭＳ Ｐゴシック</vt:lpstr>
      <vt:lpstr>TradeGothic</vt:lpstr>
      <vt:lpstr>Arial</vt:lpstr>
      <vt:lpstr>Arial Rounded MT Bold</vt:lpstr>
      <vt:lpstr>Bell MT</vt:lpstr>
      <vt:lpstr>Calibri</vt:lpstr>
      <vt:lpstr>Californian FB</vt:lpstr>
      <vt:lpstr>Garamond</vt:lpstr>
      <vt:lpstr>Times New Roman</vt:lpstr>
      <vt:lpstr>Office Theme</vt:lpstr>
      <vt:lpstr>SMART INDIA HACKATHON 2026</vt:lpstr>
      <vt:lpstr> Edge-Native Virtual Odometer &amp; Zero-Drift  GNSS  Fusion Engine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Maharshi Patel</cp:lastModifiedBy>
  <cp:revision>151</cp:revision>
  <dcterms:created xsi:type="dcterms:W3CDTF">2013-12-12T18:46:50Z</dcterms:created>
  <dcterms:modified xsi:type="dcterms:W3CDTF">2026-09-21T05:50:39Z</dcterms:modified>
  <cp:category/>
</cp:coreProperties>
</file>